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pen.neis.go.kr/hub/mealServiceDietInfo?Type=json&amp;ATPT_OFCDC_SC_CODE=B10&amp;SD_SCHUL_CODE=7010057&amp;MLSV_YMD=202505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stitch.withgoogle.com/preview/15317497955571706035?node-id=dd96f2219625442797b94aa4e8148dda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AI-EcoTable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rPr dirty="0" err="1"/>
              <a:t>공공데이터와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학교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및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배출</a:t>
            </a:r>
            <a:r>
              <a:rPr dirty="0"/>
              <a:t> </a:t>
            </a:r>
            <a:r>
              <a:rPr dirty="0" err="1"/>
              <a:t>저감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165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주제선정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솔루션 개요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목표 설정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데이터 수집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가공 알고리즘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시각화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46E7-F1F1-4EEC-A645-7EA19B6A366F}"/>
              </a:ext>
            </a:extLst>
          </p:cNvPr>
          <p:cNvSpPr txBox="1"/>
          <p:nvPr/>
        </p:nvSpPr>
        <p:spPr>
          <a:xfrm>
            <a:off x="457200" y="18097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ko-KR" altLang="en-US" dirty="0"/>
              <a:t>목차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9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05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주제선정</a:t>
            </a:r>
            <a:r>
              <a:rPr sz="3600" dirty="0"/>
              <a:t> : </a:t>
            </a:r>
            <a:r>
              <a:rPr sz="3600" dirty="0" err="1"/>
              <a:t>급식의</a:t>
            </a:r>
            <a:r>
              <a:rPr sz="3600" dirty="0"/>
              <a:t> </a:t>
            </a:r>
            <a:r>
              <a:rPr sz="3600" dirty="0" err="1"/>
              <a:t>그림자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5177106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전국</a:t>
            </a:r>
            <a:r>
              <a:rPr dirty="0"/>
              <a:t> </a:t>
            </a:r>
            <a:r>
              <a:rPr dirty="0" err="1"/>
              <a:t>학교급식</a:t>
            </a:r>
            <a:r>
              <a:rPr dirty="0"/>
              <a:t>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연간</a:t>
            </a:r>
            <a:r>
              <a:rPr dirty="0"/>
              <a:t> 약 524억 원 (2023년 </a:t>
            </a:r>
            <a:r>
              <a:rPr dirty="0" err="1"/>
              <a:t>기준</a:t>
            </a:r>
            <a:r>
              <a:rPr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온실가스 배출 및 환경 오염의 심각성 가중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남기지 않기 식의 사후 대책 및 캠페인은 이미 한계에 봉착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7EE902-3FA4-440D-9E11-1F5AC1F7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41660"/>
            <a:ext cx="3447471" cy="31299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80F245-D7D7-4976-946D-5D6229E1B095}"/>
              </a:ext>
            </a:extLst>
          </p:cNvPr>
          <p:cNvSpPr txBox="1"/>
          <p:nvPr/>
        </p:nvSpPr>
        <p:spPr>
          <a:xfrm>
            <a:off x="913773" y="4436318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대전일보 </a:t>
            </a:r>
            <a:r>
              <a:rPr lang="en-US" altLang="ko-KR" sz="1100" dirty="0"/>
              <a:t>/ 25.01.30]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5E0828D-94E3-4664-8560-E392A29A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451" y="1341660"/>
            <a:ext cx="3078480" cy="3078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82FAED-FA02-4FFE-BAF9-BA52BC11B379}"/>
              </a:ext>
            </a:extLst>
          </p:cNvPr>
          <p:cNvSpPr txBox="1"/>
          <p:nvPr/>
        </p:nvSpPr>
        <p:spPr>
          <a:xfrm>
            <a:off x="5145649" y="4436318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중앙일보 </a:t>
            </a:r>
            <a:r>
              <a:rPr lang="en-US" altLang="ko-KR" sz="1100" dirty="0"/>
              <a:t>/ 23.11.21]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729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솔루션</a:t>
            </a:r>
            <a:r>
              <a:rPr sz="3600" dirty="0"/>
              <a:t> </a:t>
            </a:r>
            <a:r>
              <a:rPr sz="3600" dirty="0" err="1"/>
              <a:t>개요</a:t>
            </a:r>
            <a:r>
              <a:rPr sz="3600" dirty="0"/>
              <a:t>: </a:t>
            </a: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중심의</a:t>
            </a:r>
            <a:r>
              <a:rPr sz="3600" dirty="0"/>
              <a:t> </a:t>
            </a:r>
            <a:r>
              <a:rPr sz="3600" dirty="0" err="1"/>
              <a:t>접근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4267200"/>
            <a:ext cx="7863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버려진</a:t>
            </a:r>
            <a:r>
              <a:rPr dirty="0"/>
              <a:t> 후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, </a:t>
            </a:r>
            <a:r>
              <a:rPr dirty="0" err="1"/>
              <a:t>버려지기</a:t>
            </a:r>
            <a:r>
              <a:rPr dirty="0"/>
              <a:t> 전 </a:t>
            </a:r>
            <a:r>
              <a:rPr dirty="0" err="1"/>
              <a:t>예측하여</a:t>
            </a:r>
            <a:r>
              <a:rPr dirty="0"/>
              <a:t> 덜 </a:t>
            </a:r>
            <a:r>
              <a:rPr dirty="0" err="1"/>
              <a:t>조리하는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방식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별도의 기기 설치 없이 기존 영양사 </a:t>
            </a:r>
            <a:r>
              <a:rPr lang="en-US" altLang="ko-KR" dirty="0"/>
              <a:t>PC</a:t>
            </a:r>
            <a:r>
              <a:rPr lang="ko-KR" altLang="en-US" dirty="0"/>
              <a:t>에서 웹</a:t>
            </a:r>
            <a:r>
              <a:rPr lang="en-US" altLang="ko-KR" dirty="0"/>
              <a:t>/</a:t>
            </a:r>
            <a:r>
              <a:rPr lang="ko-KR" altLang="en-US" dirty="0"/>
              <a:t>앱으로 바로 구동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교육부 공공데이터 </a:t>
            </a:r>
            <a:r>
              <a:rPr lang="en-US" altLang="ko-KR" dirty="0"/>
              <a:t>API</a:t>
            </a:r>
            <a:r>
              <a:rPr lang="ko-KR" altLang="en-US" dirty="0"/>
              <a:t>를 실시간으로 받아 </a:t>
            </a:r>
            <a:r>
              <a:rPr lang="en-US" altLang="ko-KR" dirty="0"/>
              <a:t>AI</a:t>
            </a:r>
            <a:r>
              <a:rPr lang="ko-KR" altLang="en-US" dirty="0"/>
              <a:t>가 분석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0323E6-BC9A-42C3-9BF0-D69F7F84F533}"/>
              </a:ext>
            </a:extLst>
          </p:cNvPr>
          <p:cNvSpPr/>
          <p:nvPr/>
        </p:nvSpPr>
        <p:spPr>
          <a:xfrm>
            <a:off x="2743200" y="164592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255BD-BFCD-4944-93B3-653947E9EE72}"/>
              </a:ext>
            </a:extLst>
          </p:cNvPr>
          <p:cNvSpPr txBox="1"/>
          <p:nvPr/>
        </p:nvSpPr>
        <p:spPr>
          <a:xfrm>
            <a:off x="2743200" y="2103120"/>
            <a:ext cx="365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ko-KR" altLang="en-US" dirty="0"/>
              <a:t>핵심은</a:t>
            </a:r>
            <a:br>
              <a:rPr lang="en-US" altLang="ko-KR" dirty="0"/>
            </a:br>
            <a:r>
              <a:rPr lang="ko-KR" altLang="en-US" dirty="0"/>
              <a:t>사전 예측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1355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목표</a:t>
            </a:r>
            <a:r>
              <a:rPr sz="3600" dirty="0"/>
              <a:t> </a:t>
            </a:r>
            <a:r>
              <a:rPr sz="3600" dirty="0" err="1"/>
              <a:t>설정</a:t>
            </a:r>
            <a:endParaRPr sz="3600" dirty="0"/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22860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t>잔반 감축 | 30톤 탄소 저감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t>1년 단위 실증을 통한 정량적 환경 목표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186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1: </a:t>
            </a:r>
            <a:r>
              <a:rPr sz="3600" dirty="0" err="1"/>
              <a:t>나이스</a:t>
            </a:r>
            <a:r>
              <a:rPr sz="3600" dirty="0"/>
              <a:t>(NEIS) </a:t>
            </a:r>
            <a:r>
              <a:rPr sz="3600" dirty="0" err="1"/>
              <a:t>식단</a:t>
            </a:r>
            <a:r>
              <a:rPr sz="3600" dirty="0"/>
              <a:t> </a:t>
            </a:r>
            <a:r>
              <a:rPr sz="3600" dirty="0" err="1"/>
              <a:t>정보</a:t>
            </a:r>
            <a:r>
              <a:rPr sz="3600" dirty="0"/>
              <a:t>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4325"/>
            <a:ext cx="786384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나이스</a:t>
            </a:r>
            <a:r>
              <a:rPr dirty="0"/>
              <a:t> </a:t>
            </a:r>
            <a:r>
              <a:rPr dirty="0" err="1"/>
              <a:t>교육정보</a:t>
            </a:r>
            <a:r>
              <a:rPr dirty="0"/>
              <a:t> </a:t>
            </a:r>
            <a:r>
              <a:rPr dirty="0" err="1"/>
              <a:t>개방포털의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API </a:t>
            </a:r>
            <a:r>
              <a:rPr dirty="0" err="1"/>
              <a:t>연동</a:t>
            </a:r>
            <a:br>
              <a:rPr lang="en-US" dirty="0"/>
            </a:br>
            <a:r>
              <a:rPr lang="en-US" sz="900" dirty="0"/>
              <a:t>(</a:t>
            </a:r>
            <a:r>
              <a:rPr lang="en-US" sz="900" dirty="0">
                <a:hlinkClick r:id="rId2"/>
              </a:rPr>
              <a:t>https://open.neis.go.kr/hub/mealServiceDietInfo?Type=json&amp;ATPT_OFCDC_SC_CODE=B10&amp;SD_SCHUL_CODE=7010057&amp;MLSV_YMD=202505</a:t>
            </a:r>
            <a:r>
              <a:rPr lang="en-US" sz="9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학교별 </a:t>
            </a:r>
            <a:r>
              <a:rPr lang="ko-KR" altLang="en-US" dirty="0" err="1"/>
              <a:t>식단명</a:t>
            </a:r>
            <a:r>
              <a:rPr lang="ko-KR" altLang="en-US" dirty="0"/>
              <a:t> 및 알레르기 유발 식재료 정보 실시간 수집</a:t>
            </a:r>
            <a:endParaRPr lang="en-US" altLang="ko-KR" sz="900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특정 지역에 국한되지 않는 완벽한 범용성 확보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AB7822-1C26-46B2-978F-3015F5F80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52" y="1650682"/>
            <a:ext cx="7027496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249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2: </a:t>
            </a:r>
            <a:r>
              <a:rPr sz="3600" dirty="0" err="1"/>
              <a:t>국가</a:t>
            </a:r>
            <a:r>
              <a:rPr sz="3600" dirty="0"/>
              <a:t> LCI </a:t>
            </a:r>
            <a:r>
              <a:rPr sz="3600" dirty="0" err="1"/>
              <a:t>데이터베이스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5207615"/>
            <a:ext cx="786384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환경부</a:t>
            </a:r>
            <a:r>
              <a:rPr dirty="0"/>
              <a:t> </a:t>
            </a:r>
            <a:r>
              <a:rPr dirty="0" err="1"/>
              <a:t>국가</a:t>
            </a:r>
            <a:r>
              <a:rPr dirty="0"/>
              <a:t> LCI(</a:t>
            </a:r>
            <a:r>
              <a:rPr dirty="0" err="1"/>
              <a:t>생애주기</a:t>
            </a:r>
            <a:r>
              <a:rPr dirty="0"/>
              <a:t>) </a:t>
            </a:r>
            <a:r>
              <a:rPr dirty="0" err="1"/>
              <a:t>데이터베이스</a:t>
            </a:r>
            <a:r>
              <a:rPr dirty="0"/>
              <a:t> </a:t>
            </a:r>
            <a:r>
              <a:rPr dirty="0" err="1"/>
              <a:t>활용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쌀</a:t>
            </a:r>
            <a:r>
              <a:rPr lang="en-US" altLang="ko-KR" dirty="0"/>
              <a:t>, </a:t>
            </a:r>
            <a:r>
              <a:rPr lang="ko-KR" altLang="en-US" dirty="0"/>
              <a:t>소고기</a:t>
            </a:r>
            <a:r>
              <a:rPr lang="en-US" altLang="ko-KR" dirty="0"/>
              <a:t>, </a:t>
            </a:r>
            <a:r>
              <a:rPr lang="ko-KR" altLang="en-US" dirty="0"/>
              <a:t>채소류 등 주요 식재료별 탄소 배출 계수 적용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감축된 </a:t>
            </a:r>
            <a:r>
              <a:rPr lang="ko-KR" altLang="en-US" dirty="0" err="1"/>
              <a:t>식재료량</a:t>
            </a:r>
            <a:r>
              <a:rPr lang="ko-KR" altLang="en-US" dirty="0"/>
              <a:t> </a:t>
            </a:r>
            <a:r>
              <a:rPr lang="en-US" altLang="ko-KR" dirty="0"/>
              <a:t>× LCI </a:t>
            </a:r>
            <a:r>
              <a:rPr lang="ko-KR" altLang="en-US" dirty="0"/>
              <a:t>탄소 계수 </a:t>
            </a:r>
            <a:r>
              <a:rPr lang="en-US" altLang="ko-KR" dirty="0"/>
              <a:t>= </a:t>
            </a:r>
            <a:r>
              <a:rPr lang="ko-KR" altLang="en-US" dirty="0"/>
              <a:t>탄소 저감 성과 도출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9C7394-49E6-4095-826C-5C4E150D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854" y="1442595"/>
            <a:ext cx="5637663" cy="3419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9480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/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6218" y="2030012"/>
            <a:ext cx="5389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① 실시간 데이터 연동 </a:t>
            </a:r>
            <a:r>
              <a:rPr lang="en-US" altLang="ko-KR" dirty="0"/>
              <a:t>(Data)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오픈 </a:t>
            </a:r>
            <a:r>
              <a:rPr lang="en-US" altLang="ko-KR" dirty="0"/>
              <a:t>API </a:t>
            </a:r>
            <a:r>
              <a:rPr lang="ko-KR" altLang="en-US" dirty="0"/>
              <a:t>실시간 </a:t>
            </a:r>
            <a:r>
              <a:rPr lang="ko-KR" altLang="en-US" dirty="0" err="1"/>
              <a:t>스크래핑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학교별 실제 식단 정보 파싱 및 데이터 정제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② </a:t>
            </a:r>
            <a:r>
              <a:rPr lang="en-US" altLang="ko-KR" dirty="0"/>
              <a:t>AI </a:t>
            </a:r>
            <a:r>
              <a:rPr lang="ko-KR" altLang="en-US" dirty="0"/>
              <a:t>분석 및 메뉴 분류 </a:t>
            </a:r>
            <a:r>
              <a:rPr lang="en-US" altLang="ko-KR" dirty="0"/>
              <a:t>(Analysis)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위험도</a:t>
            </a:r>
            <a:r>
              <a:rPr lang="en-US" altLang="ko-KR" dirty="0"/>
              <a:t>(</a:t>
            </a:r>
            <a:r>
              <a:rPr lang="ko-KR" altLang="en-US" dirty="0"/>
              <a:t>육류</a:t>
            </a:r>
            <a:r>
              <a:rPr lang="en-US" altLang="ko-KR" dirty="0"/>
              <a:t>/</a:t>
            </a:r>
            <a:r>
              <a:rPr lang="ko-KR" altLang="en-US" dirty="0"/>
              <a:t>채소</a:t>
            </a:r>
            <a:r>
              <a:rPr lang="en-US" altLang="ko-KR" dirty="0"/>
              <a:t>/</a:t>
            </a:r>
            <a:r>
              <a:rPr lang="ko-KR" altLang="en-US" dirty="0"/>
              <a:t>국 등</a:t>
            </a:r>
            <a:r>
              <a:rPr lang="en-US" altLang="ko-KR" dirty="0"/>
              <a:t>) </a:t>
            </a:r>
            <a:r>
              <a:rPr lang="ko-KR" altLang="en-US" dirty="0"/>
              <a:t>자동 분류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고위험 메뉴 대상 </a:t>
            </a:r>
            <a:r>
              <a:rPr lang="ko-KR" altLang="en-US" dirty="0" err="1"/>
              <a:t>조리량</a:t>
            </a:r>
            <a:r>
              <a:rPr lang="ko-KR" altLang="en-US" dirty="0"/>
              <a:t> 하향</a:t>
            </a:r>
            <a:r>
              <a:rPr lang="en-US" altLang="ko-KR" dirty="0"/>
              <a:t>(35%~85%) </a:t>
            </a:r>
            <a:r>
              <a:rPr lang="ko-KR" altLang="en-US" dirty="0"/>
              <a:t>권고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③ </a:t>
            </a:r>
            <a:r>
              <a:rPr lang="en-US" altLang="ko-KR" dirty="0"/>
              <a:t>1</a:t>
            </a:r>
            <a:r>
              <a:rPr lang="ko-KR" altLang="en-US" dirty="0"/>
              <a:t>년 단위 선순환 루프 </a:t>
            </a:r>
            <a:r>
              <a:rPr lang="en-US" altLang="ko-KR" dirty="0"/>
              <a:t>(Feedback)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[Q1] </a:t>
            </a:r>
            <a:r>
              <a:rPr lang="ko-KR" altLang="en-US" dirty="0"/>
              <a:t>데이터 수집 ➔ </a:t>
            </a:r>
            <a:r>
              <a:rPr lang="en-US" altLang="ko-KR" dirty="0"/>
              <a:t>[Q2] 1</a:t>
            </a:r>
            <a:r>
              <a:rPr lang="ko-KR" altLang="en-US" dirty="0"/>
              <a:t>차 감량 적용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[Q3] </a:t>
            </a:r>
            <a:r>
              <a:rPr lang="ko-KR" altLang="en-US" dirty="0"/>
              <a:t>로직 정교화 ➔ </a:t>
            </a:r>
            <a:r>
              <a:rPr lang="en-US" altLang="ko-KR" dirty="0"/>
              <a:t>[Q4] </a:t>
            </a:r>
            <a:r>
              <a:rPr lang="ko-KR" altLang="en-US" dirty="0"/>
              <a:t>탄소 저감 안정화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연간 누적 약 </a:t>
            </a:r>
            <a:r>
              <a:rPr lang="en-US" altLang="ko-KR" dirty="0"/>
              <a:t>5,455kg CO2-eq </a:t>
            </a:r>
            <a:r>
              <a:rPr lang="ko-KR" altLang="en-US" dirty="0"/>
              <a:t>탄소 배출 저감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084306-7C57-469A-8C4E-C25D9510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95" y="2030012"/>
            <a:ext cx="3469437" cy="35729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87045"/>
            <a:ext cx="7863840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/>
              <a:t>Q1 </a:t>
            </a:r>
            <a:r>
              <a:rPr dirty="0" err="1"/>
              <a:t>기준점</a:t>
            </a:r>
            <a:r>
              <a:rPr dirty="0"/>
              <a:t>: 3개월간 약 7.3톤의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발생</a:t>
            </a:r>
            <a:r>
              <a:rPr dirty="0"/>
              <a:t> (</a:t>
            </a:r>
            <a:r>
              <a:rPr dirty="0" err="1"/>
              <a:t>채소류</a:t>
            </a:r>
            <a:r>
              <a:rPr dirty="0"/>
              <a:t> 55%, </a:t>
            </a:r>
            <a:r>
              <a:rPr dirty="0" err="1"/>
              <a:t>국류</a:t>
            </a:r>
            <a:r>
              <a:rPr dirty="0"/>
              <a:t> 40% </a:t>
            </a:r>
            <a:r>
              <a:rPr dirty="0" err="1"/>
              <a:t>낭비</a:t>
            </a:r>
            <a:r>
              <a:rPr dirty="0"/>
              <a:t>)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Q2 </a:t>
            </a:r>
            <a:r>
              <a:rPr lang="ko-KR" altLang="en-US" dirty="0"/>
              <a:t>성과</a:t>
            </a:r>
            <a:r>
              <a:rPr lang="en-US" altLang="ko-KR" dirty="0"/>
              <a:t>: AI </a:t>
            </a:r>
            <a:r>
              <a:rPr lang="ko-KR" altLang="en-US" dirty="0"/>
              <a:t>가이드에 따라 </a:t>
            </a:r>
            <a:r>
              <a:rPr lang="ko-KR" altLang="en-US" dirty="0" err="1"/>
              <a:t>조리량을</a:t>
            </a:r>
            <a:r>
              <a:rPr lang="ko-KR" altLang="en-US" dirty="0"/>
              <a:t> 낮춤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Q2 </a:t>
            </a:r>
            <a:r>
              <a:rPr lang="ko-KR" altLang="en-US" dirty="0"/>
              <a:t>감축</a:t>
            </a:r>
            <a:r>
              <a:rPr lang="en-US" altLang="ko-KR" dirty="0"/>
              <a:t>: </a:t>
            </a:r>
            <a:r>
              <a:rPr lang="ko-KR" altLang="en-US" dirty="0" err="1"/>
              <a:t>잔반</a:t>
            </a:r>
            <a:r>
              <a:rPr lang="ko-KR" altLang="en-US" dirty="0"/>
              <a:t> 발생량 </a:t>
            </a:r>
            <a:r>
              <a:rPr lang="en-US" altLang="ko-KR" dirty="0"/>
              <a:t>4.8</a:t>
            </a:r>
            <a:r>
              <a:rPr lang="ko-KR" altLang="en-US" dirty="0"/>
              <a:t>톤으로 하락 → 약 </a:t>
            </a:r>
            <a:r>
              <a:rPr lang="en-US" altLang="ko-KR" dirty="0"/>
              <a:t>2.5</a:t>
            </a:r>
            <a:r>
              <a:rPr lang="ko-KR" altLang="en-US" dirty="0"/>
              <a:t>톤의 식재료 낭비 방지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6AEDA8-3A46-47F5-A383-F4F46533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57" y="1854945"/>
            <a:ext cx="2653667" cy="31481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C9AA8F-4036-4509-8120-1F349BEE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916" y="1854945"/>
            <a:ext cx="2666900" cy="31481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65037DE-0A37-4E79-8A40-E33F2E548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408" y="1850753"/>
            <a:ext cx="2660632" cy="3148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(Q3~Q4)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787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달성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2E225-1F96-40D4-9460-6F5C514D5C15}"/>
              </a:ext>
            </a:extLst>
          </p:cNvPr>
          <p:cNvSpPr txBox="1"/>
          <p:nvPr/>
        </p:nvSpPr>
        <p:spPr>
          <a:xfrm>
            <a:off x="2264569" y="6051263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en-US" altLang="ko-KR" dirty="0"/>
              <a:t>Q3 65% </a:t>
            </a:r>
            <a:r>
              <a:rPr lang="ko-KR" altLang="en-US" dirty="0"/>
              <a:t>감축</a:t>
            </a:r>
            <a:r>
              <a:rPr lang="en-US" altLang="ko-KR" dirty="0"/>
              <a:t>, Q4 </a:t>
            </a:r>
            <a:r>
              <a:rPr lang="ko-KR" altLang="en-US" dirty="0"/>
              <a:t>최종 </a:t>
            </a:r>
            <a:r>
              <a:rPr lang="en-US" altLang="ko-KR" dirty="0"/>
              <a:t>85% </a:t>
            </a:r>
            <a:r>
              <a:rPr lang="ko-KR" altLang="en-US" dirty="0"/>
              <a:t>감축 달성 및 시스템 안정화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C051A7-7CCF-46B9-9082-E2118472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680" y="1298630"/>
            <a:ext cx="5420640" cy="3774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729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시각화</a:t>
            </a:r>
            <a:r>
              <a:rPr sz="3600" dirty="0"/>
              <a:t> </a:t>
            </a:r>
            <a:r>
              <a:rPr sz="3600" dirty="0" err="1"/>
              <a:t>대시보드</a:t>
            </a:r>
            <a:r>
              <a:rPr sz="3600" dirty="0"/>
              <a:t>: </a:t>
            </a:r>
            <a:r>
              <a:rPr sz="3600" dirty="0" err="1"/>
              <a:t>탄소</a:t>
            </a:r>
            <a:r>
              <a:rPr sz="3600" dirty="0"/>
              <a:t> </a:t>
            </a:r>
            <a:r>
              <a:rPr sz="3600" dirty="0" err="1"/>
              <a:t>저감</a:t>
            </a:r>
            <a:r>
              <a:rPr sz="3600" dirty="0"/>
              <a:t> </a:t>
            </a:r>
            <a:r>
              <a:rPr sz="3600" dirty="0" err="1"/>
              <a:t>성과</a:t>
            </a:r>
            <a:endParaRPr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D3214-4247-4512-8038-634E61596241}"/>
              </a:ext>
            </a:extLst>
          </p:cNvPr>
          <p:cNvSpPr txBox="1"/>
          <p:nvPr/>
        </p:nvSpPr>
        <p:spPr>
          <a:xfrm>
            <a:off x="3741614" y="2521039"/>
            <a:ext cx="46243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스마트폰 어플을 통해 담당 영양사 선생님께 식단 예측 정보 알림 서비스 제공</a:t>
            </a:r>
            <a:endParaRPr lang="en-US" altLang="ko-KR" dirty="0"/>
          </a:p>
          <a:p>
            <a:pPr algn="ctr">
              <a:defRPr sz="1600">
                <a:solidFill>
                  <a:srgbClr val="212121"/>
                </a:solidFill>
              </a:defRPr>
            </a:pPr>
            <a:endParaRPr lang="en-US" altLang="ko-KR" dirty="0"/>
          </a:p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en-US" altLang="ko-KR" dirty="0">
                <a:hlinkClick r:id="rId2"/>
              </a:rPr>
              <a:t>https://stitch.withgoogle.com/preview/15317497955571706035?node-id=dd96f2219625442797b94aa4e8148dda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0F3C89-5159-47FF-B371-4026109D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00" y="1539964"/>
            <a:ext cx="2098549" cy="4698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0863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경제적</a:t>
            </a:r>
            <a:r>
              <a:rPr sz="3600" dirty="0"/>
              <a:t> </a:t>
            </a:r>
            <a:r>
              <a:rPr sz="3600" dirty="0" err="1"/>
              <a:t>효용성</a:t>
            </a:r>
            <a:r>
              <a:rPr sz="3600" dirty="0"/>
              <a:t> </a:t>
            </a:r>
            <a:r>
              <a:rPr sz="3600" dirty="0" err="1"/>
              <a:t>분석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버려지는 식재료 구매 비용 원천 차단 (예산 누수 방지)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음식물 쓰레기 위탁 처리 비용 급감 (월 평균 수십만 원 절약)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절감된 예산은 급식 단가 인상 및 고품질 식재료 구매에 재투자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345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영양사</a:t>
            </a:r>
            <a:r>
              <a:rPr sz="3600" dirty="0"/>
              <a:t> </a:t>
            </a:r>
            <a:r>
              <a:rPr sz="3600" dirty="0" err="1"/>
              <a:t>맞춤형</a:t>
            </a:r>
            <a:r>
              <a:rPr sz="3600" dirty="0"/>
              <a:t> AI-</a:t>
            </a:r>
            <a:r>
              <a:rPr sz="3600" dirty="0" err="1"/>
              <a:t>EcoTable</a:t>
            </a:r>
            <a:r>
              <a:rPr sz="3600" dirty="0"/>
              <a:t> </a:t>
            </a:r>
            <a:r>
              <a:rPr sz="3600" dirty="0" err="1"/>
              <a:t>대시보드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기존 업무를 방해하지 않는 직관적인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"오늘 채소류 콩나물무침은 평소 대비 35% 하향 조리를 권장합니다" 실시간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모바일 그린 리포트 기능을 통해 학교장 및 학부모에게 성과 공유 용이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2456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전국</a:t>
            </a:r>
            <a:r>
              <a:rPr sz="3600" dirty="0"/>
              <a:t> </a:t>
            </a:r>
            <a:r>
              <a:rPr sz="3600" dirty="0" err="1"/>
              <a:t>확산</a:t>
            </a:r>
            <a:r>
              <a:rPr sz="3600" dirty="0"/>
              <a:t> </a:t>
            </a:r>
            <a:r>
              <a:rPr sz="3600" dirty="0" err="1"/>
              <a:t>로드맵</a:t>
            </a:r>
            <a:r>
              <a:rPr sz="3600" dirty="0"/>
              <a:t> 및 </a:t>
            </a:r>
            <a:r>
              <a:rPr sz="3600" dirty="0" err="1"/>
              <a:t>정책</a:t>
            </a:r>
            <a:r>
              <a:rPr sz="3600" dirty="0"/>
              <a:t> </a:t>
            </a:r>
            <a:r>
              <a:rPr sz="3600" dirty="0" err="1"/>
              <a:t>제언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전국 확산성: 나이스(NEIS) 표준 개방 데이터로 모든 학교에 즉시 연동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비용 효율성: 인프라 설치 비용 Zero (소프트웨어 방식)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▪ 정책 제언: 교육부 차원의 "데이터 기반 탄소 중립 급식 지수" 신설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4825" y="468290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BE48A-4F27-4BDF-BC68-C717791423EF}"/>
              </a:ext>
            </a:extLst>
          </p:cNvPr>
          <p:cNvSpPr txBox="1"/>
          <p:nvPr/>
        </p:nvSpPr>
        <p:spPr>
          <a:xfrm>
            <a:off x="457200" y="1898868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과학으로</a:t>
            </a:r>
            <a:r>
              <a:rPr dirty="0"/>
              <a:t> </a:t>
            </a:r>
            <a:r>
              <a:rPr dirty="0" err="1"/>
              <a:t>시작하는</a:t>
            </a:r>
            <a:r>
              <a:rPr dirty="0"/>
              <a:t>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중립</a:t>
            </a:r>
            <a:r>
              <a:rPr dirty="0"/>
              <a:t> </a:t>
            </a:r>
            <a:r>
              <a:rPr dirty="0" err="1"/>
              <a:t>학교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003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D1BA29-52E0-4FAC-80C2-19ACAB2DFD32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b730fed6-493e-4fe4-810c-f130c9ff94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619</Words>
  <Application>Microsoft Office PowerPoint</Application>
  <PresentationFormat>화면 슬라이드 쇼(4:3)</PresentationFormat>
  <Paragraphs>76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Bob Alex</cp:lastModifiedBy>
  <cp:revision>10</cp:revision>
  <dcterms:created xsi:type="dcterms:W3CDTF">2013-01-27T09:14:16Z</dcterms:created>
  <dcterms:modified xsi:type="dcterms:W3CDTF">2026-05-09T04:50:14Z</dcterms:modified>
  <cp:category/>
</cp:coreProperties>
</file>