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webextensions/taskpanes.xml" ContentType="application/vnd.ms-office.webextensiontaskpanes+xml"/>
  <Override PartName="/ppt/webextensions/webextension1.xml" ContentType="application/vnd.ms-office.webextension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thumbnail" Target="docProps/thumbnail.jpeg"/><Relationship Id="rId2" Type="http://schemas.openxmlformats.org/officeDocument/2006/relationships/officeDocument" Target="ppt/presentation.xml"/><Relationship Id="rId1" Type="http://schemas.microsoft.com/office/2011/relationships/webextensiontaskpanes" Target="ppt/webextensions/taskpanes.xml"/><Relationship Id="rId5" Type="http://schemas.openxmlformats.org/officeDocument/2006/relationships/extended-properties" Target="docProps/app.xml"/><Relationship Id="rId4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71" r:id="rId3"/>
    <p:sldId id="257" r:id="rId4"/>
    <p:sldId id="259" r:id="rId5"/>
    <p:sldId id="260" r:id="rId6"/>
    <p:sldId id="261" r:id="rId7"/>
    <p:sldId id="262" r:id="rId8"/>
    <p:sldId id="263" r:id="rId9"/>
    <p:sldId id="273" r:id="rId10"/>
    <p:sldId id="275" r:id="rId11"/>
    <p:sldId id="264" r:id="rId12"/>
    <p:sldId id="265" r:id="rId13"/>
    <p:sldId id="266" r:id="rId14"/>
    <p:sldId id="267" r:id="rId15"/>
    <p:sldId id="272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B6DAB13-A144-4317-AB2B-3B1910BB83A5}" type="datetimeFigureOut">
              <a:rPr lang="ko-KR" altLang="en-US" smtClean="0"/>
              <a:t>2026-05-10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3B5272F-E0AA-4748-8035-0130F46DC54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775733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**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왜 앙상블 모델을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썼나요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?"**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물어보면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: 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단일 모델보다 여러 예측 결과를 종합하는 앙상블 방식이 학교 현장처럼 변수가 많은 환경에서 훨씬 안정적인 수치를 보여주었기 때문입니다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답하시면 됩니다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**"F1-Score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가 왜 중요한가요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?"**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물어보면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: 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단순히 맞힌 개수보다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,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잔반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 위험이 높은 메뉴를 놓치지 않고 정확하게 잡아내는 것이 </a:t>
            </a:r>
            <a:r>
              <a:rPr lang="ko-KR" altLang="en-US" b="0" i="0" dirty="0" err="1">
                <a:solidFill>
                  <a:srgbClr val="CCCCCC"/>
                </a:solidFill>
                <a:effectLst/>
                <a:latin typeface="ui-sans-serif"/>
              </a:rPr>
              <a:t>조리량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 조절에 핵심이기 때문입니다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."</a:t>
            </a:r>
            <a:r>
              <a:rPr lang="ko-KR" altLang="en-US" b="0" i="0" dirty="0">
                <a:solidFill>
                  <a:srgbClr val="CCCCCC"/>
                </a:solidFill>
                <a:effectLst/>
                <a:latin typeface="ui-sans-serif"/>
              </a:rPr>
              <a:t>라고 자신 있게 말씀하세요</a:t>
            </a:r>
            <a:r>
              <a:rPr lang="en-US" altLang="ko-KR" b="0" i="0" dirty="0">
                <a:solidFill>
                  <a:srgbClr val="CCCCCC"/>
                </a:solidFill>
                <a:effectLst/>
                <a:latin typeface="ui-sans-serif"/>
              </a:rPr>
              <a:t>.</a:t>
            </a:r>
          </a:p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3B5272F-E0AA-4748-8035-0130F46DC543}" type="slidenum">
              <a:rPr lang="ko-KR" altLang="en-US" smtClean="0"/>
              <a:t>10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26537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5/10/2026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https://open.neis.go.kr/hub/mealServiceDietInfo?Type=json&amp;ATPT_OFCDC_SC_CODE=B10&amp;SD_SCHUL_CODE=7010057&amp;MLSV_YMD=202505" TargetMode="Externa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alexchoi21.github.io/AI-EcoTable/app/mobile_app.html?date=20250401&amp;push=true" TargetMode="External"/><Relationship Id="rId2" Type="http://schemas.openxmlformats.org/officeDocument/2006/relationships/hyperlink" Target="https://stitch.withgoogle.com/preview/15317497955571706035?node-id=dd96f2219625442797b94aa4e8148dda" TargetMode="Externa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dirty="0"/>
              <a:t>AI-</a:t>
            </a:r>
            <a:r>
              <a:rPr dirty="0" err="1"/>
              <a:t>EcoTable</a:t>
            </a:r>
            <a:endParaRPr dirty="0"/>
          </a:p>
        </p:txBody>
      </p:sp>
      <p:sp>
        <p:nvSpPr>
          <p:cNvPr id="3" name="TextBox 2"/>
          <p:cNvSpPr txBox="1"/>
          <p:nvPr/>
        </p:nvSpPr>
        <p:spPr>
          <a:xfrm>
            <a:off x="457200" y="3840480"/>
            <a:ext cx="822960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>
                <a:solidFill>
                  <a:srgbClr val="F1F8E9"/>
                </a:solidFill>
              </a:defRPr>
            </a:pPr>
            <a:r>
              <a:rPr dirty="0" err="1"/>
              <a:t>공공데이터와</a:t>
            </a:r>
            <a:r>
              <a:rPr dirty="0"/>
              <a:t> </a:t>
            </a:r>
            <a:r>
              <a:rPr dirty="0" err="1"/>
              <a:t>AI를</a:t>
            </a:r>
            <a:r>
              <a:rPr dirty="0"/>
              <a:t> </a:t>
            </a:r>
            <a:r>
              <a:rPr dirty="0" err="1"/>
              <a:t>활용한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학교</a:t>
            </a:r>
            <a:r>
              <a:rPr dirty="0"/>
              <a:t> </a:t>
            </a:r>
            <a:r>
              <a:rPr dirty="0" err="1"/>
              <a:t>급식</a:t>
            </a:r>
            <a:r>
              <a:rPr dirty="0"/>
              <a:t> </a:t>
            </a:r>
            <a:r>
              <a:rPr dirty="0" err="1"/>
              <a:t>잔반</a:t>
            </a:r>
            <a:r>
              <a:rPr dirty="0"/>
              <a:t> </a:t>
            </a:r>
            <a:r>
              <a:rPr dirty="0" err="1"/>
              <a:t>예측</a:t>
            </a:r>
            <a:r>
              <a:rPr dirty="0"/>
              <a:t> 및 </a:t>
            </a:r>
            <a:r>
              <a:rPr dirty="0" err="1"/>
              <a:t>탄소</a:t>
            </a:r>
            <a:r>
              <a:rPr dirty="0"/>
              <a:t> </a:t>
            </a:r>
            <a:r>
              <a:rPr dirty="0" err="1"/>
              <a:t>배출</a:t>
            </a:r>
            <a:r>
              <a:rPr dirty="0"/>
              <a:t> </a:t>
            </a:r>
            <a:r>
              <a:rPr dirty="0" err="1"/>
              <a:t>저감</a:t>
            </a:r>
            <a:r>
              <a:rPr dirty="0"/>
              <a:t> </a:t>
            </a:r>
            <a:r>
              <a:rPr dirty="0" err="1"/>
              <a:t>솔루션</a:t>
            </a: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E7D3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57200" y="1771650"/>
            <a:ext cx="82296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주제선정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솔루션 개요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목표 설정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데이터 수집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가공 알고리즘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시각화</a:t>
            </a:r>
            <a:endParaRPr lang="en-US" altLang="ko-KR" sz="3600" dirty="0"/>
          </a:p>
          <a:p>
            <a:pPr marL="571500" indent="-571500">
              <a:buFont typeface="Arial" panose="020B0604020202020204" pitchFamily="34" charset="0"/>
              <a:buChar char="•"/>
              <a:defRPr sz="5400" b="1">
                <a:solidFill>
                  <a:srgbClr val="FFFFFF"/>
                </a:solidFill>
              </a:defRPr>
            </a:pPr>
            <a:r>
              <a:rPr lang="ko-KR" altLang="en-US" sz="3600" dirty="0"/>
              <a:t>결론</a:t>
            </a:r>
            <a:endParaRPr lang="en-US" sz="36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9F46E7-F1F1-4EEC-A645-7EA19B6A366F}"/>
              </a:ext>
            </a:extLst>
          </p:cNvPr>
          <p:cNvSpPr txBox="1"/>
          <p:nvPr/>
        </p:nvSpPr>
        <p:spPr>
          <a:xfrm>
            <a:off x="457200" y="180975"/>
            <a:ext cx="82296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5400" b="1">
                <a:solidFill>
                  <a:srgbClr val="FFFFFF"/>
                </a:solidFill>
              </a:defRPr>
            </a:pPr>
            <a:r>
              <a:rPr lang="ko-KR" altLang="en-US" dirty="0"/>
              <a:t>목차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642911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053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주제선정</a:t>
            </a:r>
            <a:r>
              <a:rPr sz="3600" dirty="0"/>
              <a:t> : </a:t>
            </a:r>
            <a:r>
              <a:rPr sz="3600" dirty="0" err="1"/>
              <a:t>급식의</a:t>
            </a:r>
            <a:r>
              <a:rPr sz="3600" dirty="0"/>
              <a:t> </a:t>
            </a:r>
            <a:r>
              <a:rPr sz="3600" dirty="0" err="1"/>
              <a:t>그림자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708212" y="4212086"/>
            <a:ext cx="7727576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/>
              <a:t>지금까지의 </a:t>
            </a:r>
            <a:r>
              <a:rPr lang="ko-KR" altLang="en-US" dirty="0" err="1"/>
              <a:t>잔반</a:t>
            </a:r>
            <a:r>
              <a:rPr lang="ko-KR" altLang="en-US" dirty="0"/>
              <a:t> 줄이기 캠페인은 학생들에게 </a:t>
            </a:r>
            <a:r>
              <a:rPr lang="en-US" altLang="ko-KR" dirty="0"/>
              <a:t>'</a:t>
            </a:r>
            <a:r>
              <a:rPr lang="ko-KR" altLang="en-US" dirty="0"/>
              <a:t>다 먹으라</a:t>
            </a:r>
            <a:r>
              <a:rPr lang="en-US" altLang="ko-KR" dirty="0"/>
              <a:t>'</a:t>
            </a:r>
            <a:r>
              <a:rPr lang="ko-KR" altLang="en-US" dirty="0"/>
              <a:t>는 개인의 실천만을 강조한다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하지만 저희는 데이터를 분석하며 **근본적인 원인이 </a:t>
            </a:r>
            <a:r>
              <a:rPr lang="en-US" altLang="ko-KR" dirty="0"/>
              <a:t>＇</a:t>
            </a:r>
            <a:r>
              <a:rPr lang="ko-KR" altLang="en-US" dirty="0"/>
              <a:t>수요와 공급의 미스매치</a:t>
            </a:r>
            <a:r>
              <a:rPr lang="en-US" altLang="ko-KR" dirty="0"/>
              <a:t>＇**</a:t>
            </a:r>
            <a:r>
              <a:rPr lang="ko-KR" altLang="en-US" dirty="0"/>
              <a:t>에 있음을 발견했다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개인이 아닌 **</a:t>
            </a:r>
            <a:r>
              <a:rPr lang="en-US" altLang="ko-KR" dirty="0"/>
              <a:t>'</a:t>
            </a:r>
            <a:r>
              <a:rPr lang="ko-KR" altLang="en-US" dirty="0"/>
              <a:t>시스템</a:t>
            </a:r>
            <a:r>
              <a:rPr lang="en-US" altLang="ko-KR" dirty="0"/>
              <a:t>'**</a:t>
            </a:r>
            <a:r>
              <a:rPr lang="ko-KR" altLang="en-US" dirty="0"/>
              <a:t>이 </a:t>
            </a:r>
            <a:r>
              <a:rPr lang="ko-KR" altLang="en-US" dirty="0" err="1"/>
              <a:t>조리량을</a:t>
            </a:r>
            <a:r>
              <a:rPr lang="ko-KR" altLang="en-US" dirty="0"/>
              <a:t> 조절해야 한다는 발상의 전환이 </a:t>
            </a:r>
            <a:br>
              <a:rPr lang="en-US" altLang="ko-KR" dirty="0"/>
            </a:br>
            <a:r>
              <a:rPr lang="en-US" altLang="ko-KR" dirty="0"/>
              <a:t>AI-</a:t>
            </a:r>
            <a:r>
              <a:rPr lang="en-US" altLang="ko-KR" dirty="0" err="1"/>
              <a:t>EcoTable</a:t>
            </a:r>
            <a:r>
              <a:rPr lang="ko-KR" altLang="en-US" dirty="0"/>
              <a:t>의 시작이라고 판단했다</a:t>
            </a:r>
            <a:r>
              <a:rPr lang="en-US" altLang="ko-KR" dirty="0"/>
              <a:t>."</a:t>
            </a:r>
            <a:endParaRPr lang="ko-KR" altLang="en-US"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277EE902-3FA4-440D-9E11-1F5AC1F7E6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21890" y="1470705"/>
            <a:ext cx="2318273" cy="2104748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C880F245-D7D7-4976-946D-5D6229E1B095}"/>
              </a:ext>
            </a:extLst>
          </p:cNvPr>
          <p:cNvSpPr txBox="1"/>
          <p:nvPr/>
        </p:nvSpPr>
        <p:spPr>
          <a:xfrm>
            <a:off x="930984" y="3575993"/>
            <a:ext cx="2900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[</a:t>
            </a:r>
            <a:r>
              <a:rPr lang="ko-KR" altLang="en-US" sz="1100" dirty="0"/>
              <a:t>출처 </a:t>
            </a:r>
            <a:r>
              <a:rPr lang="en-US" altLang="ko-KR" sz="1100" dirty="0"/>
              <a:t>: </a:t>
            </a:r>
            <a:r>
              <a:rPr lang="ko-KR" altLang="en-US" sz="1100" dirty="0"/>
              <a:t>대전일보 </a:t>
            </a:r>
            <a:r>
              <a:rPr lang="en-US" altLang="ko-KR" sz="1100" dirty="0"/>
              <a:t>/ 25.01.30]</a:t>
            </a:r>
            <a:endParaRPr lang="ko-KR" altLang="en-US" sz="1100" dirty="0"/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05E0828D-94E3-4664-8560-E392A29A60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198" y="1470705"/>
            <a:ext cx="2109127" cy="2109127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4182FAED-FA02-4FFE-BAF9-BA52BC11B379}"/>
              </a:ext>
            </a:extLst>
          </p:cNvPr>
          <p:cNvSpPr txBox="1"/>
          <p:nvPr/>
        </p:nvSpPr>
        <p:spPr>
          <a:xfrm>
            <a:off x="4633719" y="3580354"/>
            <a:ext cx="2900083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ko-KR" sz="1100" dirty="0"/>
              <a:t>[</a:t>
            </a:r>
            <a:r>
              <a:rPr lang="ko-KR" altLang="en-US" sz="1100" dirty="0"/>
              <a:t>출처 </a:t>
            </a:r>
            <a:r>
              <a:rPr lang="en-US" altLang="ko-KR" sz="1100" dirty="0"/>
              <a:t>: </a:t>
            </a:r>
            <a:r>
              <a:rPr lang="ko-KR" altLang="en-US" sz="1100" dirty="0"/>
              <a:t>중앙일보 </a:t>
            </a:r>
            <a:r>
              <a:rPr lang="en-US" altLang="ko-KR" sz="1100" dirty="0"/>
              <a:t>/ 23.11.21]</a:t>
            </a:r>
            <a:endParaRPr lang="ko-KR" alt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672972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솔루션</a:t>
            </a:r>
            <a:r>
              <a:rPr sz="3600" dirty="0"/>
              <a:t> </a:t>
            </a:r>
            <a:r>
              <a:rPr sz="3600" dirty="0" err="1"/>
              <a:t>개요</a:t>
            </a:r>
            <a:r>
              <a:rPr sz="3600" dirty="0"/>
              <a:t>: </a:t>
            </a: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중심의</a:t>
            </a:r>
            <a:r>
              <a:rPr sz="3600" dirty="0"/>
              <a:t> </a:t>
            </a:r>
            <a:r>
              <a:rPr sz="3600" dirty="0" err="1"/>
              <a:t>접근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4267200"/>
            <a:ext cx="786384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버려진</a:t>
            </a:r>
            <a:r>
              <a:rPr dirty="0"/>
              <a:t> 후 </a:t>
            </a:r>
            <a:r>
              <a:rPr dirty="0" err="1"/>
              <a:t>처리하는</a:t>
            </a:r>
            <a:r>
              <a:rPr dirty="0"/>
              <a:t> </a:t>
            </a:r>
            <a:r>
              <a:rPr dirty="0" err="1"/>
              <a:t>것이</a:t>
            </a:r>
            <a:r>
              <a:rPr dirty="0"/>
              <a:t> </a:t>
            </a:r>
            <a:r>
              <a:rPr dirty="0" err="1"/>
              <a:t>아닌</a:t>
            </a:r>
            <a:r>
              <a:rPr dirty="0"/>
              <a:t>, </a:t>
            </a:r>
            <a:r>
              <a:rPr dirty="0" err="1"/>
              <a:t>버려지기</a:t>
            </a:r>
            <a:r>
              <a:rPr dirty="0"/>
              <a:t> 전 </a:t>
            </a:r>
            <a:r>
              <a:rPr dirty="0" err="1"/>
              <a:t>예측하여</a:t>
            </a:r>
            <a:r>
              <a:rPr dirty="0"/>
              <a:t> 덜 </a:t>
            </a:r>
            <a:r>
              <a:rPr dirty="0" err="1"/>
              <a:t>조리하는</a:t>
            </a:r>
            <a:r>
              <a:rPr dirty="0"/>
              <a:t> </a:t>
            </a:r>
            <a:br>
              <a:rPr lang="en-US" dirty="0"/>
            </a:br>
            <a:r>
              <a:rPr dirty="0" err="1"/>
              <a:t>사전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</a:t>
            </a:r>
            <a:r>
              <a:rPr dirty="0" err="1"/>
              <a:t>방식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별도의 기기 설치 없이 기존 영양사 </a:t>
            </a:r>
            <a:r>
              <a:rPr lang="en-US" altLang="ko-KR" dirty="0"/>
              <a:t>PC</a:t>
            </a:r>
            <a:r>
              <a:rPr lang="ko-KR" altLang="en-US" dirty="0"/>
              <a:t>에서 웹</a:t>
            </a:r>
            <a:r>
              <a:rPr lang="en-US" altLang="ko-KR" dirty="0"/>
              <a:t>/</a:t>
            </a:r>
            <a:r>
              <a:rPr lang="ko-KR" altLang="en-US" dirty="0"/>
              <a:t>앱으로 바로 구동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교육부 공공데이터 </a:t>
            </a:r>
            <a:r>
              <a:rPr lang="en-US" altLang="ko-KR" dirty="0"/>
              <a:t>API</a:t>
            </a:r>
            <a:r>
              <a:rPr lang="ko-KR" altLang="en-US" dirty="0"/>
              <a:t>를 실시간으로 받아 </a:t>
            </a:r>
            <a:r>
              <a:rPr lang="en-US" altLang="ko-KR" dirty="0"/>
              <a:t>AI</a:t>
            </a:r>
            <a:r>
              <a:rPr lang="ko-KR" altLang="en-US" dirty="0"/>
              <a:t>가 분석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290323E6-BC9A-42C3-9BF0-D69F7F84F533}"/>
              </a:ext>
            </a:extLst>
          </p:cNvPr>
          <p:cNvSpPr/>
          <p:nvPr/>
        </p:nvSpPr>
        <p:spPr>
          <a:xfrm>
            <a:off x="2743200" y="1645920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9B255BD-BFCD-4944-93B3-653947E9EE72}"/>
              </a:ext>
            </a:extLst>
          </p:cNvPr>
          <p:cNvSpPr txBox="1"/>
          <p:nvPr/>
        </p:nvSpPr>
        <p:spPr>
          <a:xfrm>
            <a:off x="2743200" y="2103120"/>
            <a:ext cx="3657600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rPr lang="ko-KR" altLang="en-US" dirty="0"/>
              <a:t>핵심은</a:t>
            </a:r>
            <a:br>
              <a:rPr lang="en-US" altLang="ko-KR" dirty="0"/>
            </a:br>
            <a:r>
              <a:rPr lang="ko-KR" altLang="en-US" dirty="0"/>
              <a:t>사전 예측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213552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목표</a:t>
            </a:r>
            <a:r>
              <a:rPr sz="3600" dirty="0"/>
              <a:t> </a:t>
            </a:r>
            <a:r>
              <a:rPr sz="3600" dirty="0" err="1"/>
              <a:t>설정</a:t>
            </a:r>
            <a:endParaRPr sz="3600" dirty="0"/>
          </a:p>
        </p:txBody>
      </p:sp>
      <p:sp>
        <p:nvSpPr>
          <p:cNvPr id="4" name="Rectangle 3"/>
          <p:cNvSpPr/>
          <p:nvPr/>
        </p:nvSpPr>
        <p:spPr>
          <a:xfrm>
            <a:off x="2743200" y="1210231"/>
            <a:ext cx="3657600" cy="2286000"/>
          </a:xfrm>
          <a:prstGeom prst="rect">
            <a:avLst/>
          </a:prstGeom>
          <a:solidFill>
            <a:srgbClr val="1976D2"/>
          </a:solidFill>
          <a:ln>
            <a:solidFill>
              <a:srgbClr val="1976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743200" y="1667431"/>
            <a:ext cx="3657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</a:defRPr>
            </a:pPr>
            <a:r>
              <a:t>85%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3653156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rPr dirty="0" err="1"/>
              <a:t>잔반</a:t>
            </a:r>
            <a:r>
              <a:rPr dirty="0"/>
              <a:t> </a:t>
            </a:r>
            <a:r>
              <a:rPr dirty="0" err="1"/>
              <a:t>감축</a:t>
            </a:r>
            <a:r>
              <a:rPr dirty="0"/>
              <a:t> | 30톤 </a:t>
            </a:r>
            <a:r>
              <a:rPr dirty="0" err="1"/>
              <a:t>탄소</a:t>
            </a:r>
            <a:r>
              <a:rPr dirty="0"/>
              <a:t> </a:t>
            </a:r>
            <a:r>
              <a:rPr dirty="0" err="1"/>
              <a:t>저감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914400" y="4202237"/>
            <a:ext cx="7315200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전국 학교의 식품 쓰레기 문제를 해결하기 위해 </a:t>
            </a:r>
            <a:r>
              <a:rPr lang="en-US" altLang="ko-KR" dirty="0"/>
              <a:t>1</a:t>
            </a:r>
            <a:r>
              <a:rPr lang="ko-KR" altLang="en-US" dirty="0"/>
              <a:t>년간 </a:t>
            </a:r>
            <a:r>
              <a:rPr lang="en-US" altLang="ko-KR" dirty="0"/>
              <a:t>85%</a:t>
            </a:r>
            <a:r>
              <a:rPr lang="ko-KR" altLang="en-US" dirty="0"/>
              <a:t>의 </a:t>
            </a:r>
            <a:r>
              <a:rPr lang="ko-KR" altLang="en-US" dirty="0" err="1"/>
              <a:t>잔반</a:t>
            </a:r>
            <a:r>
              <a:rPr lang="ko-KR" altLang="en-US" dirty="0"/>
              <a:t> 감축을 목표로 설정했다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이는 단순한 감축 수치가 아니라</a:t>
            </a:r>
            <a:r>
              <a:rPr lang="en-US" altLang="ko-KR" dirty="0"/>
              <a:t>, </a:t>
            </a:r>
            <a:r>
              <a:rPr lang="ko-KR" altLang="en-US" dirty="0"/>
              <a:t>학생들의 식습관 개선과 급식 시스템 혁신을 동시에 추구하는 의미 있는 목표다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 err="1"/>
              <a:t>잔반</a:t>
            </a:r>
            <a:r>
              <a:rPr lang="ko-KR" altLang="en-US" dirty="0"/>
              <a:t> 감축을 통해 음식물 쓰레기 처리 에너지를 감소시켜 연간 약 </a:t>
            </a:r>
            <a:r>
              <a:rPr lang="en-US" altLang="ko-KR" dirty="0"/>
              <a:t>30</a:t>
            </a:r>
            <a:r>
              <a:rPr lang="ko-KR" altLang="en-US" dirty="0"/>
              <a:t>톤의 </a:t>
            </a:r>
            <a:r>
              <a:rPr lang="en-US" altLang="ko-KR" dirty="0"/>
              <a:t>CO₂ </a:t>
            </a:r>
            <a:r>
              <a:rPr lang="ko-KR" altLang="en-US" dirty="0"/>
              <a:t>감축 효과를 기대한다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우리는 실제 데이터를 기반으로 측정 가능한 결과를 제시하는 것을 원칙으로 삼았다</a:t>
            </a:r>
            <a:r>
              <a:rPr lang="en-US" altLang="ko-KR" dirty="0"/>
              <a:t>.</a:t>
            </a:r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월별</a:t>
            </a:r>
            <a:r>
              <a:rPr lang="en-US" altLang="ko-KR" dirty="0"/>
              <a:t>·</a:t>
            </a:r>
            <a:r>
              <a:rPr lang="ko-KR" altLang="en-US" dirty="0"/>
              <a:t>학교별 데이터 분석을 통해 목표 달성 과정을 투명하게 공개할 계획이다</a:t>
            </a:r>
            <a:r>
              <a:rPr lang="en-US" altLang="ko-KR" dirty="0"/>
              <a:t>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518679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수집</a:t>
            </a:r>
            <a:r>
              <a:rPr sz="3600" dirty="0"/>
              <a:t> 1: </a:t>
            </a:r>
            <a:r>
              <a:rPr sz="3600" dirty="0" err="1"/>
              <a:t>나이스</a:t>
            </a:r>
            <a:r>
              <a:rPr sz="3600" dirty="0"/>
              <a:t>(NEIS) </a:t>
            </a:r>
            <a:r>
              <a:rPr sz="3600" dirty="0" err="1"/>
              <a:t>식단</a:t>
            </a:r>
            <a:r>
              <a:rPr sz="3600" dirty="0"/>
              <a:t> </a:t>
            </a:r>
            <a:r>
              <a:rPr sz="3600" dirty="0" err="1"/>
              <a:t>정보</a:t>
            </a:r>
            <a:r>
              <a:rPr sz="3600" dirty="0"/>
              <a:t>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3407148"/>
            <a:ext cx="7863840" cy="5078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나이스</a:t>
            </a:r>
            <a:r>
              <a:rPr dirty="0"/>
              <a:t> </a:t>
            </a:r>
            <a:r>
              <a:rPr dirty="0" err="1"/>
              <a:t>교육정보</a:t>
            </a:r>
            <a:r>
              <a:rPr dirty="0"/>
              <a:t> </a:t>
            </a:r>
            <a:r>
              <a:rPr dirty="0" err="1"/>
              <a:t>개방포털의</a:t>
            </a:r>
            <a:r>
              <a:rPr dirty="0"/>
              <a:t> </a:t>
            </a:r>
            <a:r>
              <a:rPr dirty="0" err="1"/>
              <a:t>급식</a:t>
            </a:r>
            <a:r>
              <a:rPr dirty="0"/>
              <a:t> </a:t>
            </a:r>
            <a:r>
              <a:rPr dirty="0" err="1"/>
              <a:t>식단</a:t>
            </a:r>
            <a:r>
              <a:rPr dirty="0"/>
              <a:t> API </a:t>
            </a:r>
            <a:r>
              <a:rPr dirty="0" err="1"/>
              <a:t>연동</a:t>
            </a:r>
            <a:br>
              <a:rPr lang="en-US" dirty="0"/>
            </a:br>
            <a:r>
              <a:rPr lang="en-US" sz="900" dirty="0"/>
              <a:t>(</a:t>
            </a:r>
            <a:r>
              <a:rPr lang="en-US" sz="900" dirty="0">
                <a:hlinkClick r:id="rId2"/>
              </a:rPr>
              <a:t>https://open.neis.go.kr/hub/mealServiceDietInfo?Type=json&amp;ATPT_OFCDC_SC_CODE=B10&amp;SD_SCHUL_CODE=7010057&amp;MLSV_YMD=202505</a:t>
            </a:r>
            <a:r>
              <a:rPr lang="en-US" sz="900" dirty="0"/>
              <a:t>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EE5C69A-A379-48B9-AA67-BDA1694C77FC}"/>
              </a:ext>
            </a:extLst>
          </p:cNvPr>
          <p:cNvSpPr txBox="1"/>
          <p:nvPr/>
        </p:nvSpPr>
        <p:spPr>
          <a:xfrm>
            <a:off x="640080" y="4086513"/>
            <a:ext cx="7863840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 err="1"/>
              <a:t>나이스</a:t>
            </a:r>
            <a:r>
              <a:rPr lang="ko-KR" altLang="en-US" dirty="0"/>
              <a:t> 오픈 </a:t>
            </a:r>
            <a:r>
              <a:rPr lang="en-US" altLang="ko-KR" dirty="0"/>
              <a:t>API</a:t>
            </a:r>
            <a:r>
              <a:rPr lang="ko-KR" altLang="en-US" dirty="0"/>
              <a:t>에서 수집한 </a:t>
            </a:r>
            <a:r>
              <a:rPr lang="en-US" altLang="ko-KR" dirty="0"/>
              <a:t>Raw </a:t>
            </a:r>
            <a:r>
              <a:rPr lang="ko-KR" altLang="en-US" dirty="0"/>
              <a:t>데이터는 </a:t>
            </a:r>
            <a:r>
              <a:rPr lang="ko-KR" altLang="en-US" dirty="0" err="1"/>
              <a:t>메뉴명</a:t>
            </a:r>
            <a:r>
              <a:rPr lang="ko-KR" altLang="en-US" dirty="0"/>
              <a:t> 뒤에 알레르기 유발 정보</a:t>
            </a:r>
            <a:r>
              <a:rPr lang="en-US" altLang="ko-KR" dirty="0"/>
              <a:t>(</a:t>
            </a:r>
            <a:r>
              <a:rPr lang="ko-KR" altLang="en-US" dirty="0"/>
              <a:t>번호</a:t>
            </a:r>
            <a:r>
              <a:rPr lang="en-US" altLang="ko-KR" dirty="0"/>
              <a:t>)</a:t>
            </a:r>
            <a:r>
              <a:rPr lang="ko-KR" altLang="en-US" dirty="0"/>
              <a:t>가 섞여 있는 등 </a:t>
            </a:r>
            <a:r>
              <a:rPr lang="en-US" altLang="ko-KR" dirty="0"/>
              <a:t>AI</a:t>
            </a:r>
            <a:r>
              <a:rPr lang="ko-KR" altLang="en-US" dirty="0"/>
              <a:t>가 바로 학습하기 어려운 상태였다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저희는 이를 자연어 처리</a:t>
            </a:r>
            <a:r>
              <a:rPr lang="en-US" altLang="ko-KR" dirty="0"/>
              <a:t>(NLP) </a:t>
            </a:r>
            <a:r>
              <a:rPr lang="ko-KR" altLang="en-US" dirty="0"/>
              <a:t>기법을 활용해 순수 메뉴명만 정제하는 과정을 거쳤다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이를 통해 전국 어느 학교의 식단 데이터도 즉각 분석 가능한 범용적 인터페이스를 구축했다</a:t>
            </a:r>
            <a:r>
              <a:rPr lang="en-US" altLang="ko-KR" dirty="0"/>
              <a:t>."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1874EDDD-D12C-4499-8544-E9EA27E78547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/>
          <a:stretch/>
        </p:blipFill>
        <p:spPr>
          <a:xfrm>
            <a:off x="1163214" y="1279806"/>
            <a:ext cx="6817572" cy="2127342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24972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데이터</a:t>
            </a:r>
            <a:r>
              <a:rPr sz="3600" dirty="0"/>
              <a:t> </a:t>
            </a:r>
            <a:r>
              <a:rPr sz="3600" dirty="0" err="1"/>
              <a:t>수집</a:t>
            </a:r>
            <a:r>
              <a:rPr sz="3600" dirty="0"/>
              <a:t> 2: </a:t>
            </a:r>
            <a:r>
              <a:rPr sz="3600" dirty="0" err="1"/>
              <a:t>국가</a:t>
            </a:r>
            <a:r>
              <a:rPr sz="3600" dirty="0"/>
              <a:t> LCI </a:t>
            </a:r>
            <a:r>
              <a:rPr sz="3600" dirty="0" err="1"/>
              <a:t>데이터베이스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4798511"/>
            <a:ext cx="7863840" cy="17091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쌀</a:t>
            </a:r>
            <a:r>
              <a:rPr lang="en-US" altLang="ko-KR" dirty="0"/>
              <a:t>, </a:t>
            </a:r>
            <a:r>
              <a:rPr lang="ko-KR" altLang="en-US" dirty="0"/>
              <a:t>소고기</a:t>
            </a:r>
            <a:r>
              <a:rPr lang="en-US" altLang="ko-KR" dirty="0"/>
              <a:t>, </a:t>
            </a:r>
            <a:r>
              <a:rPr lang="ko-KR" altLang="en-US" dirty="0"/>
              <a:t>채소류 등 주요 식재료별 탄소 배출 계수를 적용했다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산출방식은 감축된 </a:t>
            </a:r>
            <a:r>
              <a:rPr lang="ko-KR" altLang="en-US" dirty="0" err="1"/>
              <a:t>식재료량</a:t>
            </a:r>
            <a:r>
              <a:rPr lang="ko-KR" altLang="en-US" dirty="0"/>
              <a:t> </a:t>
            </a:r>
            <a:r>
              <a:rPr lang="en-US" altLang="ko-KR" dirty="0"/>
              <a:t>× LCI </a:t>
            </a:r>
            <a:r>
              <a:rPr lang="ko-KR" altLang="en-US" dirty="0"/>
              <a:t>탄소 계수 </a:t>
            </a:r>
            <a:r>
              <a:rPr lang="en-US" altLang="ko-KR" dirty="0"/>
              <a:t>= </a:t>
            </a:r>
            <a:r>
              <a:rPr lang="ko-KR" altLang="en-US" dirty="0"/>
              <a:t>탄소 저감 성과 로 정했다</a:t>
            </a:r>
            <a:r>
              <a:rPr lang="en-US" altLang="ko-KR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이 방식을 통해 학교 급식의 환경 영향을 정량적으로 측정하고</a:t>
            </a:r>
            <a:r>
              <a:rPr lang="en-US" altLang="ko-KR" dirty="0"/>
              <a:t>, </a:t>
            </a:r>
            <a:r>
              <a:rPr lang="ko-KR" altLang="en-US" dirty="0"/>
              <a:t>각 식재료별 감축 효과를 명확하게 분석했다</a:t>
            </a:r>
            <a:r>
              <a:rPr lang="en-US" altLang="ko-KR" dirty="0"/>
              <a:t>.</a:t>
            </a:r>
            <a:endParaRPr dirty="0"/>
          </a:p>
        </p:txBody>
      </p:sp>
      <p:pic>
        <p:nvPicPr>
          <p:cNvPr id="8" name="그림 7">
            <a:extLst>
              <a:ext uri="{FF2B5EF4-FFF2-40B4-BE49-F238E27FC236}">
                <a16:creationId xmlns:a16="http://schemas.microsoft.com/office/drawing/2014/main" id="{409C7394-49E6-4095-826C-5C4E150D85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4871" y="1548433"/>
            <a:ext cx="4614258" cy="279892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948010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/>
              <a:t>가공 알고리즘: 1년(4분기) 피드백 루프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916218" y="2030012"/>
            <a:ext cx="538914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① 실시간 데이터 연동 </a:t>
            </a:r>
            <a:r>
              <a:rPr lang="en-US" altLang="ko-KR" dirty="0"/>
              <a:t>(Data)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 err="1"/>
              <a:t>나이스</a:t>
            </a:r>
            <a:r>
              <a:rPr lang="en-US" altLang="ko-KR" dirty="0"/>
              <a:t>(NEIS) </a:t>
            </a:r>
            <a:r>
              <a:rPr lang="ko-KR" altLang="en-US" dirty="0"/>
              <a:t>오픈 </a:t>
            </a:r>
            <a:r>
              <a:rPr lang="en-US" altLang="ko-KR" dirty="0"/>
              <a:t>API </a:t>
            </a:r>
            <a:r>
              <a:rPr lang="ko-KR" altLang="en-US" dirty="0"/>
              <a:t>실시간 </a:t>
            </a:r>
            <a:r>
              <a:rPr lang="ko-KR" altLang="en-US" dirty="0" err="1"/>
              <a:t>스크래핑</a:t>
            </a:r>
            <a:endParaRPr lang="ko-KR" alt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학교별 실제 식단 정보 파싱 및 데이터 정제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② </a:t>
            </a:r>
            <a:r>
              <a:rPr lang="en-US" altLang="ko-KR" dirty="0"/>
              <a:t>AI </a:t>
            </a:r>
            <a:r>
              <a:rPr lang="ko-KR" altLang="en-US" dirty="0"/>
              <a:t>분석 및 메뉴 분류 </a:t>
            </a:r>
            <a:r>
              <a:rPr lang="en-US" altLang="ko-KR" dirty="0"/>
              <a:t>(Analysis)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 err="1"/>
              <a:t>메뉴별</a:t>
            </a:r>
            <a:r>
              <a:rPr lang="ko-KR" altLang="en-US" dirty="0"/>
              <a:t> </a:t>
            </a:r>
            <a:r>
              <a:rPr lang="ko-KR" altLang="en-US" dirty="0" err="1"/>
              <a:t>잔반</a:t>
            </a:r>
            <a:r>
              <a:rPr lang="ko-KR" altLang="en-US" dirty="0"/>
              <a:t> 위험도</a:t>
            </a:r>
            <a:r>
              <a:rPr lang="en-US" altLang="ko-KR" dirty="0"/>
              <a:t>(</a:t>
            </a:r>
            <a:r>
              <a:rPr lang="ko-KR" altLang="en-US" dirty="0"/>
              <a:t>육류</a:t>
            </a:r>
            <a:r>
              <a:rPr lang="en-US" altLang="ko-KR" dirty="0"/>
              <a:t>/</a:t>
            </a:r>
            <a:r>
              <a:rPr lang="ko-KR" altLang="en-US" dirty="0"/>
              <a:t>채소</a:t>
            </a:r>
            <a:r>
              <a:rPr lang="en-US" altLang="ko-KR" dirty="0"/>
              <a:t>/</a:t>
            </a:r>
            <a:r>
              <a:rPr lang="ko-KR" altLang="en-US" dirty="0"/>
              <a:t>국 등</a:t>
            </a:r>
            <a:r>
              <a:rPr lang="en-US" altLang="ko-KR" dirty="0"/>
              <a:t>) </a:t>
            </a:r>
            <a:r>
              <a:rPr lang="ko-KR" altLang="en-US" dirty="0"/>
              <a:t>자동 분류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고위험 메뉴 대상 </a:t>
            </a:r>
            <a:r>
              <a:rPr lang="ko-KR" altLang="en-US" dirty="0" err="1"/>
              <a:t>조리량</a:t>
            </a:r>
            <a:r>
              <a:rPr lang="ko-KR" altLang="en-US" dirty="0"/>
              <a:t> 하향</a:t>
            </a:r>
            <a:r>
              <a:rPr lang="en-US" altLang="ko-KR" dirty="0"/>
              <a:t>(35%~85%) </a:t>
            </a:r>
            <a:r>
              <a:rPr lang="ko-KR" altLang="en-US" dirty="0"/>
              <a:t>권고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③ </a:t>
            </a:r>
            <a:r>
              <a:rPr lang="en-US" altLang="ko-KR" dirty="0"/>
              <a:t>1</a:t>
            </a:r>
            <a:r>
              <a:rPr lang="ko-KR" altLang="en-US" dirty="0"/>
              <a:t>년 단위 선순환 루프 </a:t>
            </a:r>
            <a:r>
              <a:rPr lang="en-US" altLang="ko-KR" dirty="0"/>
              <a:t>(Feedback)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[Q1] </a:t>
            </a:r>
            <a:r>
              <a:rPr lang="ko-KR" altLang="en-US" dirty="0"/>
              <a:t>데이터 수집 ➔ </a:t>
            </a:r>
            <a:r>
              <a:rPr lang="en-US" altLang="ko-KR" dirty="0"/>
              <a:t>[Q2] 1</a:t>
            </a:r>
            <a:r>
              <a:rPr lang="ko-KR" altLang="en-US" dirty="0"/>
              <a:t>차 감량 적용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[Q3] </a:t>
            </a:r>
            <a:r>
              <a:rPr lang="ko-KR" altLang="en-US" dirty="0"/>
              <a:t>로직 정교화 ➔ </a:t>
            </a:r>
            <a:r>
              <a:rPr lang="en-US" altLang="ko-KR" dirty="0"/>
              <a:t>[Q4] </a:t>
            </a:r>
            <a:r>
              <a:rPr lang="ko-KR" altLang="en-US" dirty="0"/>
              <a:t>탄소 저감 안정화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연간 누적 약 </a:t>
            </a:r>
            <a:r>
              <a:rPr lang="en-US" altLang="ko-KR" dirty="0"/>
              <a:t>5,455kg CO2-eq </a:t>
            </a:r>
            <a:r>
              <a:rPr lang="ko-KR" altLang="en-US" dirty="0"/>
              <a:t>탄소 배출 저감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1865D20F-66D8-4995-BD8D-B1083E300D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970" y="1358507"/>
            <a:ext cx="2748760" cy="502242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53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가공</a:t>
            </a:r>
            <a:r>
              <a:rPr sz="3600" dirty="0"/>
              <a:t> </a:t>
            </a:r>
            <a:r>
              <a:rPr sz="3600" dirty="0" err="1"/>
              <a:t>알고리즘</a:t>
            </a:r>
            <a:r>
              <a:rPr sz="3600" dirty="0"/>
              <a:t>: </a:t>
            </a:r>
            <a:r>
              <a:rPr lang="ko-KR" altLang="en-US" sz="3600" dirty="0" err="1"/>
              <a:t>잔반량</a:t>
            </a:r>
            <a:r>
              <a:rPr lang="ko-KR" altLang="en-US" sz="3600" dirty="0"/>
              <a:t> 학습 알고리즘</a:t>
            </a:r>
            <a:endParaRPr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A03DF-0AF2-451A-B0DB-AC5E96F7091E}"/>
              </a:ext>
            </a:extLst>
          </p:cNvPr>
          <p:cNvSpPr txBox="1"/>
          <p:nvPr/>
        </p:nvSpPr>
        <p:spPr>
          <a:xfrm>
            <a:off x="640079" y="3814900"/>
            <a:ext cx="7863840" cy="26374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 err="1"/>
              <a:t>나이스</a:t>
            </a:r>
            <a:r>
              <a:rPr lang="ko-KR" altLang="en-US" sz="1600" dirty="0"/>
              <a:t> 교육정보 </a:t>
            </a:r>
            <a:r>
              <a:rPr lang="ko-KR" altLang="en-US" sz="1600" dirty="0" err="1"/>
              <a:t>개방포털</a:t>
            </a:r>
            <a:r>
              <a:rPr lang="ko-KR" altLang="en-US" sz="1600" dirty="0"/>
              <a:t> </a:t>
            </a:r>
            <a:r>
              <a:rPr lang="en-US" altLang="ko-KR" sz="1600" dirty="0"/>
              <a:t>API</a:t>
            </a:r>
            <a:r>
              <a:rPr lang="ko-KR" altLang="en-US" sz="1600" dirty="0"/>
              <a:t>를 활용한 실제 급식 데이터 실시간 수집 및 분석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단순히 </a:t>
            </a:r>
            <a:r>
              <a:rPr lang="en-US" altLang="ko-KR" sz="1600" dirty="0"/>
              <a:t>API</a:t>
            </a:r>
            <a:r>
              <a:rPr lang="ko-KR" altLang="en-US" sz="1600" dirty="0"/>
              <a:t>를 연결하는 것에 그치지 않고</a:t>
            </a:r>
            <a:r>
              <a:rPr lang="en-US" altLang="ko-KR" sz="1600" dirty="0"/>
              <a:t>, </a:t>
            </a:r>
            <a:r>
              <a:rPr lang="ko-KR" altLang="en-US" sz="1600" dirty="0"/>
              <a:t>우리 학교의 실제 메뉴 데이터를 실시간으로 가져와 학습 데이터셋으로 구축했다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자연어 처리</a:t>
            </a:r>
            <a:r>
              <a:rPr lang="en-US" altLang="ko-KR" sz="1600" dirty="0"/>
              <a:t>(NLP)</a:t>
            </a:r>
            <a:r>
              <a:rPr lang="ko-KR" altLang="en-US" sz="1600" dirty="0"/>
              <a:t>를 이용한 똑똑한 메뉴 분석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정확도 </a:t>
            </a:r>
            <a:r>
              <a:rPr lang="en-US" altLang="ko-KR" sz="1600" b="1" dirty="0">
                <a:solidFill>
                  <a:srgbClr val="FF0000"/>
                </a:solidFill>
              </a:rPr>
              <a:t>F1-Score: 0.948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메뉴 이름만 보는 게 아니라</a:t>
            </a:r>
            <a:r>
              <a:rPr lang="en-US" altLang="ko-KR" sz="1600" dirty="0"/>
              <a:t>, '</a:t>
            </a:r>
            <a:r>
              <a:rPr lang="ko-KR" altLang="en-US" sz="1600" dirty="0"/>
              <a:t>나물</a:t>
            </a:r>
            <a:r>
              <a:rPr lang="en-US" altLang="ko-KR" sz="1600" dirty="0"/>
              <a:t>', '</a:t>
            </a:r>
            <a:r>
              <a:rPr lang="ko-KR" altLang="en-US" sz="1600" dirty="0"/>
              <a:t>무침</a:t>
            </a:r>
            <a:r>
              <a:rPr lang="en-US" altLang="ko-KR" sz="1600" dirty="0"/>
              <a:t>' </a:t>
            </a:r>
            <a:r>
              <a:rPr lang="ko-KR" altLang="en-US" sz="1600" dirty="0"/>
              <a:t>같은 조리 방식과 주요 식재료 키워드를 </a:t>
            </a:r>
            <a:r>
              <a:rPr lang="en-US" altLang="ko-KR" sz="1600" dirty="0"/>
              <a:t>AI</a:t>
            </a:r>
            <a:r>
              <a:rPr lang="ko-KR" altLang="en-US" sz="1600" dirty="0"/>
              <a:t>가 스스로 파악하게 했습니다</a:t>
            </a:r>
            <a:r>
              <a:rPr lang="en-US" altLang="ko-KR" sz="1600" dirty="0"/>
              <a:t>. </a:t>
            </a:r>
            <a:r>
              <a:rPr lang="ko-KR" altLang="en-US" sz="1600" dirty="0"/>
              <a:t>그 결과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잔반이</a:t>
            </a:r>
            <a:r>
              <a:rPr lang="ko-KR" altLang="en-US" sz="1600" dirty="0"/>
              <a:t> 많이 남는 메뉴군을 </a:t>
            </a:r>
            <a:r>
              <a:rPr lang="en-US" altLang="ko-KR" sz="1600" dirty="0"/>
              <a:t>94.8%</a:t>
            </a:r>
            <a:r>
              <a:rPr lang="ko-KR" altLang="en-US" sz="1600" dirty="0"/>
              <a:t>의 높은 정확도로 분류해낼 수 있었다</a:t>
            </a:r>
            <a:r>
              <a:rPr lang="en-US" altLang="ko-KR" sz="1600" dirty="0"/>
              <a:t>.</a:t>
            </a:r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EF97300E-A2FD-4CD4-B439-C1CF23615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18806" y="1257957"/>
            <a:ext cx="5529843" cy="2396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71175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765305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가공</a:t>
            </a:r>
            <a:r>
              <a:rPr sz="3600" dirty="0"/>
              <a:t> </a:t>
            </a:r>
            <a:r>
              <a:rPr sz="3600" dirty="0" err="1"/>
              <a:t>알고리즘</a:t>
            </a:r>
            <a:r>
              <a:rPr sz="3600" dirty="0"/>
              <a:t>: </a:t>
            </a:r>
            <a:r>
              <a:rPr lang="ko-KR" altLang="en-US" sz="3600" dirty="0" err="1"/>
              <a:t>잔반량</a:t>
            </a:r>
            <a:r>
              <a:rPr lang="ko-KR" altLang="en-US" sz="3600" dirty="0"/>
              <a:t> 학습 알고리즘</a:t>
            </a:r>
            <a:endParaRPr sz="36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E0EA03DF-0AF2-451A-B0DB-AC5E96F7091E}"/>
              </a:ext>
            </a:extLst>
          </p:cNvPr>
          <p:cNvSpPr txBox="1"/>
          <p:nvPr/>
        </p:nvSpPr>
        <p:spPr>
          <a:xfrm>
            <a:off x="640079" y="3608852"/>
            <a:ext cx="7863840" cy="30067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다양한 변수를 고려한 앙상블 예측 모델링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평균 오차 </a:t>
            </a:r>
            <a:r>
              <a:rPr lang="en-US" altLang="ko-KR" sz="1600" b="1" dirty="0">
                <a:solidFill>
                  <a:srgbClr val="FF0000"/>
                </a:solidFill>
              </a:rPr>
              <a:t>MAE: 0.12kg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 err="1"/>
              <a:t>잔반은</a:t>
            </a:r>
            <a:r>
              <a:rPr lang="ko-KR" altLang="en-US" sz="1600" dirty="0"/>
              <a:t> </a:t>
            </a:r>
            <a:r>
              <a:rPr lang="ko-KR" altLang="en-US" sz="1600" dirty="0" err="1"/>
              <a:t>메뉴뿐만</a:t>
            </a:r>
            <a:r>
              <a:rPr lang="ko-KR" altLang="en-US" sz="1600" dirty="0"/>
              <a:t> 아니라 날씨</a:t>
            </a:r>
            <a:r>
              <a:rPr lang="en-US" altLang="ko-KR" sz="1600" dirty="0"/>
              <a:t>, </a:t>
            </a:r>
            <a:r>
              <a:rPr lang="ko-KR" altLang="en-US" sz="1600" dirty="0"/>
              <a:t>요일</a:t>
            </a:r>
            <a:r>
              <a:rPr lang="en-US" altLang="ko-KR" sz="1600" dirty="0"/>
              <a:t>, </a:t>
            </a:r>
            <a:r>
              <a:rPr lang="ko-KR" altLang="en-US" sz="1600" dirty="0"/>
              <a:t>학생들의 선호도에 따라 달라진다</a:t>
            </a:r>
            <a:r>
              <a:rPr lang="en-US" altLang="ko-KR" sz="1600" dirty="0"/>
              <a:t>. </a:t>
            </a:r>
            <a:r>
              <a:rPr lang="ko-KR" altLang="en-US" sz="1600" dirty="0"/>
              <a:t>우리는 </a:t>
            </a:r>
            <a:r>
              <a:rPr lang="en-US" altLang="ko-KR" sz="1600" b="1" dirty="0"/>
              <a:t>Random Forest </a:t>
            </a:r>
            <a:r>
              <a:rPr lang="ko-KR" altLang="en-US" sz="1600" b="1" dirty="0"/>
              <a:t>앙상블 기법</a:t>
            </a:r>
            <a:r>
              <a:rPr lang="ko-KR" altLang="en-US" sz="1600" dirty="0"/>
              <a:t>을 써서 이 </a:t>
            </a:r>
            <a:r>
              <a:rPr lang="en-US" altLang="ko-KR" sz="1600" dirty="0"/>
              <a:t>6</a:t>
            </a:r>
            <a:r>
              <a:rPr lang="ko-KR" altLang="en-US" sz="1600" dirty="0"/>
              <a:t>가지 변수를 복합적으로 학습시켰고</a:t>
            </a:r>
            <a:r>
              <a:rPr lang="en-US" altLang="ko-KR" sz="1600" dirty="0"/>
              <a:t>, </a:t>
            </a:r>
            <a:r>
              <a:rPr lang="ko-KR" altLang="en-US" sz="1600" dirty="0"/>
              <a:t>인당 예측 오차를 사과 반 개 정도인 </a:t>
            </a:r>
            <a:r>
              <a:rPr lang="en-US" altLang="ko-KR" sz="1600" dirty="0"/>
              <a:t>120g</a:t>
            </a:r>
            <a:r>
              <a:rPr lang="ko-KR" altLang="en-US" sz="1600" dirty="0"/>
              <a:t>까지 줄이는 데 성공했다</a:t>
            </a:r>
            <a:r>
              <a:rPr lang="en-US" altLang="ko-KR" sz="1600" dirty="0"/>
              <a:t>.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우리가 만든 알고리즘으로 증명한 환경 보호 효과 </a:t>
            </a:r>
            <a:r>
              <a:rPr lang="en-US" altLang="ko-KR" sz="1600" dirty="0"/>
              <a:t>(</a:t>
            </a:r>
            <a:r>
              <a:rPr lang="ko-KR" altLang="en-US" sz="1600" b="1" dirty="0">
                <a:solidFill>
                  <a:srgbClr val="FF0000"/>
                </a:solidFill>
              </a:rPr>
              <a:t>탄소 저감</a:t>
            </a:r>
            <a:r>
              <a:rPr lang="en-US" altLang="ko-KR" sz="1600" b="1" dirty="0">
                <a:solidFill>
                  <a:srgbClr val="FF0000"/>
                </a:solidFill>
              </a:rPr>
              <a:t>: -24.5%</a:t>
            </a:r>
            <a:r>
              <a:rPr lang="en-US" altLang="ko-KR" sz="1600" dirty="0"/>
              <a:t>)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sz="1600" dirty="0"/>
              <a:t>이 정교한 예측 결과를 바탕으로 시뮬레이션을 돌려보니</a:t>
            </a:r>
            <a:r>
              <a:rPr lang="en-US" altLang="ko-KR" sz="1600" dirty="0"/>
              <a:t>, </a:t>
            </a:r>
            <a:r>
              <a:rPr lang="ko-KR" altLang="en-US" sz="1600" dirty="0" err="1"/>
              <a:t>조리량만</a:t>
            </a:r>
            <a:r>
              <a:rPr lang="ko-KR" altLang="en-US" sz="1600" dirty="0"/>
              <a:t> 최적화해도 연간 탄소 배출량의 약 </a:t>
            </a:r>
            <a:r>
              <a:rPr lang="en-US" altLang="ko-KR" sz="1600" dirty="0"/>
              <a:t>4</a:t>
            </a:r>
            <a:r>
              <a:rPr lang="ko-KR" altLang="en-US" sz="1600" dirty="0"/>
              <a:t>분의 </a:t>
            </a:r>
            <a:r>
              <a:rPr lang="en-US" altLang="ko-KR" sz="1600" dirty="0"/>
              <a:t>1(24.5%)</a:t>
            </a:r>
            <a:r>
              <a:rPr lang="ko-KR" altLang="en-US" sz="1600" dirty="0"/>
              <a:t>을 줄일 수 있다는 놀라운 결론을 얻었다</a:t>
            </a:r>
            <a:r>
              <a:rPr lang="en-US" altLang="ko-KR" sz="1600" dirty="0"/>
              <a:t>. </a:t>
            </a:r>
            <a:r>
              <a:rPr lang="ko-KR" altLang="en-US" sz="1600" dirty="0"/>
              <a:t>데이터가 실질적인 환경 보호의 해답이 될 수 있음을 증명했다</a:t>
            </a:r>
            <a:r>
              <a:rPr lang="en-US" altLang="ko-KR" sz="1600" dirty="0"/>
              <a:t>.</a:t>
            </a:r>
            <a:endParaRPr lang="en-US" sz="1600" dirty="0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C070326D-B885-403F-A206-464E042A2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1201" y="1131389"/>
            <a:ext cx="6785053" cy="24433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823603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시뮬레이션</a:t>
            </a:r>
            <a:r>
              <a:rPr sz="3600" dirty="0"/>
              <a:t> </a:t>
            </a:r>
            <a:r>
              <a:rPr sz="3600" dirty="0" err="1"/>
              <a:t>결과</a:t>
            </a:r>
            <a:r>
              <a:rPr sz="3600" dirty="0"/>
              <a:t> (Q1~Q2)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035137"/>
            <a:ext cx="7863840" cy="25401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"</a:t>
            </a:r>
            <a:r>
              <a:rPr lang="ko-KR" altLang="en-US" dirty="0"/>
              <a:t>저희 알고리즘은 </a:t>
            </a:r>
            <a:r>
              <a:rPr lang="ko-KR" altLang="en-US" dirty="0" err="1"/>
              <a:t>메뉴별</a:t>
            </a:r>
            <a:r>
              <a:rPr lang="ko-KR" altLang="en-US" dirty="0"/>
              <a:t> </a:t>
            </a:r>
            <a:r>
              <a:rPr lang="ko-KR" altLang="en-US" dirty="0" err="1"/>
              <a:t>잔반</a:t>
            </a:r>
            <a:r>
              <a:rPr lang="ko-KR" altLang="en-US" dirty="0"/>
              <a:t> 발생 확률을 학습하여 **</a:t>
            </a:r>
            <a:r>
              <a:rPr lang="en-US" altLang="ko-KR" dirty="0"/>
              <a:t>94.2%</a:t>
            </a:r>
            <a:r>
              <a:rPr lang="ko-KR" altLang="en-US" dirty="0"/>
              <a:t>의 예측 정확도</a:t>
            </a:r>
            <a:r>
              <a:rPr lang="en-US" altLang="ko-KR" dirty="0"/>
              <a:t>($F1-Score$)**</a:t>
            </a:r>
            <a:r>
              <a:rPr lang="ko-KR" altLang="en-US" dirty="0"/>
              <a:t>를 확보했다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단순히 </a:t>
            </a:r>
            <a:r>
              <a:rPr lang="ko-KR" altLang="en-US" dirty="0" err="1"/>
              <a:t>조리량을</a:t>
            </a:r>
            <a:r>
              <a:rPr lang="ko-KR" altLang="en-US" dirty="0"/>
              <a:t> 일괄적으로 줄이는 것이 아니라</a:t>
            </a:r>
            <a:r>
              <a:rPr lang="en-US" altLang="ko-KR" dirty="0"/>
              <a:t>, </a:t>
            </a:r>
            <a:r>
              <a:rPr lang="ko-KR" altLang="en-US" dirty="0" err="1"/>
              <a:t>잔반</a:t>
            </a:r>
            <a:r>
              <a:rPr lang="ko-KR" altLang="en-US" dirty="0"/>
              <a:t> 발생 고위험 메뉴</a:t>
            </a:r>
            <a:r>
              <a:rPr lang="en-US" altLang="ko-KR" dirty="0"/>
              <a:t>(</a:t>
            </a:r>
            <a:r>
              <a:rPr lang="ko-KR" altLang="en-US" dirty="0"/>
              <a:t>채소류</a:t>
            </a:r>
            <a:r>
              <a:rPr lang="en-US" altLang="ko-KR" dirty="0"/>
              <a:t>, </a:t>
            </a:r>
            <a:r>
              <a:rPr lang="ko-KR" altLang="en-US" dirty="0" err="1"/>
              <a:t>국류</a:t>
            </a:r>
            <a:r>
              <a:rPr lang="ko-KR" altLang="en-US" dirty="0"/>
              <a:t> 등</a:t>
            </a:r>
            <a:r>
              <a:rPr lang="en-US" altLang="ko-KR" dirty="0"/>
              <a:t>)</a:t>
            </a:r>
            <a:r>
              <a:rPr lang="ko-KR" altLang="en-US" dirty="0"/>
              <a:t>를 정밀하게 타격하여 </a:t>
            </a:r>
            <a:r>
              <a:rPr lang="ko-KR" altLang="en-US" dirty="0" err="1"/>
              <a:t>조리량을</a:t>
            </a:r>
            <a:r>
              <a:rPr lang="ko-KR" altLang="en-US" dirty="0"/>
              <a:t> 최적화 함</a:t>
            </a:r>
            <a:r>
              <a:rPr lang="en-US" altLang="ko-KR" dirty="0"/>
              <a:t>. 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이는 학생들의 영양 섭취는 유지하면서도 버려지는 식재료만 효과적으로 억제하는 결과로 도출된다</a:t>
            </a:r>
            <a:r>
              <a:rPr lang="en-US" altLang="ko-KR" dirty="0"/>
              <a:t>.</a:t>
            </a:r>
            <a:endParaRPr dirty="0"/>
          </a:p>
        </p:txBody>
      </p:sp>
      <p:pic>
        <p:nvPicPr>
          <p:cNvPr id="6" name="그림 5">
            <a:extLst>
              <a:ext uri="{FF2B5EF4-FFF2-40B4-BE49-F238E27FC236}">
                <a16:creationId xmlns:a16="http://schemas.microsoft.com/office/drawing/2014/main" id="{D95DF4A1-BB21-4A02-92D3-5A4DD38300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61883" y="1312787"/>
            <a:ext cx="1801409" cy="2597290"/>
          </a:xfrm>
          <a:prstGeom prst="rect">
            <a:avLst/>
          </a:prstGeom>
        </p:spPr>
      </p:pic>
      <p:pic>
        <p:nvPicPr>
          <p:cNvPr id="9" name="그림 8">
            <a:extLst>
              <a:ext uri="{FF2B5EF4-FFF2-40B4-BE49-F238E27FC236}">
                <a16:creationId xmlns:a16="http://schemas.microsoft.com/office/drawing/2014/main" id="{DFCD02D8-B426-450F-B845-1AC1D41D62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67842" y="1312787"/>
            <a:ext cx="1411227" cy="2599009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5FABFD1B-E1FC-4DA6-A1B1-B60012D843C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71295" y="1312786"/>
            <a:ext cx="1801409" cy="2599009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5245347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600" dirty="0" err="1"/>
              <a:t>시뮬레이션</a:t>
            </a:r>
            <a:r>
              <a:rPr sz="3600" dirty="0"/>
              <a:t> </a:t>
            </a:r>
            <a:r>
              <a:rPr sz="3600" dirty="0" err="1"/>
              <a:t>결과</a:t>
            </a:r>
            <a:r>
              <a:rPr sz="3600" dirty="0"/>
              <a:t> (Q3~Q4)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5478780"/>
            <a:ext cx="54864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>
                <a:solidFill>
                  <a:srgbClr val="2E7D32"/>
                </a:solidFill>
              </a:defRPr>
            </a:pPr>
            <a:r>
              <a:rPr dirty="0" err="1"/>
              <a:t>단계별</a:t>
            </a:r>
            <a:r>
              <a:rPr dirty="0"/>
              <a:t> </a:t>
            </a:r>
            <a:r>
              <a:rPr dirty="0" err="1"/>
              <a:t>감축</a:t>
            </a:r>
            <a:r>
              <a:rPr dirty="0"/>
              <a:t> | </a:t>
            </a:r>
            <a:r>
              <a:rPr dirty="0" err="1"/>
              <a:t>최종</a:t>
            </a:r>
            <a:r>
              <a:rPr dirty="0"/>
              <a:t> </a:t>
            </a:r>
            <a:r>
              <a:rPr dirty="0" err="1"/>
              <a:t>목표</a:t>
            </a:r>
            <a:r>
              <a:rPr dirty="0"/>
              <a:t> </a:t>
            </a:r>
            <a:r>
              <a:rPr dirty="0" err="1"/>
              <a:t>달성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CF2E225-1F96-40D4-9460-6F5C514D5C15}"/>
              </a:ext>
            </a:extLst>
          </p:cNvPr>
          <p:cNvSpPr txBox="1"/>
          <p:nvPr/>
        </p:nvSpPr>
        <p:spPr>
          <a:xfrm>
            <a:off x="2264569" y="6051263"/>
            <a:ext cx="4624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en-US" altLang="ko-KR" dirty="0"/>
              <a:t>Q3 65% </a:t>
            </a:r>
            <a:r>
              <a:rPr lang="ko-KR" altLang="en-US" dirty="0"/>
              <a:t>감축</a:t>
            </a:r>
            <a:r>
              <a:rPr lang="en-US" altLang="ko-KR" dirty="0"/>
              <a:t>, Q4 </a:t>
            </a:r>
            <a:r>
              <a:rPr lang="ko-KR" altLang="en-US" dirty="0"/>
              <a:t>최종 </a:t>
            </a:r>
            <a:r>
              <a:rPr lang="en-US" altLang="ko-KR" dirty="0"/>
              <a:t>85% </a:t>
            </a:r>
            <a:r>
              <a:rPr lang="ko-KR" altLang="en-US" dirty="0"/>
              <a:t>감축 달성 및 시스템 안정화</a:t>
            </a:r>
          </a:p>
        </p:txBody>
      </p:sp>
      <p:pic>
        <p:nvPicPr>
          <p:cNvPr id="12" name="그림 11">
            <a:extLst>
              <a:ext uri="{FF2B5EF4-FFF2-40B4-BE49-F238E27FC236}">
                <a16:creationId xmlns:a16="http://schemas.microsoft.com/office/drawing/2014/main" id="{2C7E1A67-CBEA-4AB1-8997-5935BD67F83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97402" y="1212563"/>
            <a:ext cx="4949195" cy="423117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8149988" cy="58477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sz="3200" dirty="0" err="1"/>
              <a:t>시각화</a:t>
            </a:r>
            <a:r>
              <a:rPr sz="3200" dirty="0"/>
              <a:t> </a:t>
            </a:r>
            <a:r>
              <a:rPr sz="3200" dirty="0" err="1"/>
              <a:t>대시보드</a:t>
            </a:r>
            <a:r>
              <a:rPr sz="3200" dirty="0"/>
              <a:t>: </a:t>
            </a:r>
            <a:r>
              <a:rPr lang="ko-KR" altLang="en-US" sz="3200" dirty="0"/>
              <a:t>영양사 선생님 알람 서비스</a:t>
            </a:r>
            <a:endParaRPr sz="3200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97D3214-4247-4512-8038-634E61596241}"/>
              </a:ext>
            </a:extLst>
          </p:cNvPr>
          <p:cNvSpPr txBox="1"/>
          <p:nvPr/>
        </p:nvSpPr>
        <p:spPr>
          <a:xfrm>
            <a:off x="2259807" y="1234912"/>
            <a:ext cx="462438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스마트폰 어플을 통해 담당 영양사 선생님께 식단 예측 정보 알림 서비스 제공</a:t>
            </a:r>
            <a:endParaRPr lang="en-US" altLang="ko-KR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6422119-280C-46E0-B9E1-29336C3FECCF}"/>
              </a:ext>
            </a:extLst>
          </p:cNvPr>
          <p:cNvSpPr txBox="1"/>
          <p:nvPr/>
        </p:nvSpPr>
        <p:spPr>
          <a:xfrm>
            <a:off x="4987193" y="2552585"/>
            <a:ext cx="3794000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프로토타입 제작 링크</a:t>
            </a:r>
            <a:br>
              <a:rPr lang="en-US" altLang="ko-KR" dirty="0"/>
            </a:br>
            <a:r>
              <a:rPr lang="en-US" altLang="ko-KR" dirty="0">
                <a:hlinkClick r:id="rId2"/>
              </a:rPr>
              <a:t>https://stitch.withgoogle.com/preview/15317497955571706035?node-id=dd96f2219625442797b94aa4e8148dda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실제 서비스 연동 링크</a:t>
            </a:r>
            <a:br>
              <a:rPr lang="en-US" altLang="ko-KR" dirty="0"/>
            </a:br>
            <a:r>
              <a:rPr lang="en-US" altLang="ko-KR" dirty="0">
                <a:hlinkClick r:id="rId3"/>
              </a:rPr>
              <a:t>https://alexchoi21.github.io/AI-EcoTable/app/mobile_app.html?date=20250401&amp;push=true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600">
                <a:solidFill>
                  <a:srgbClr val="212121"/>
                </a:solidFill>
              </a:defRPr>
            </a:pPr>
            <a:r>
              <a:rPr lang="ko-KR" altLang="en-US" dirty="0"/>
              <a:t>조리 최적화 승인 및 발주 연동을 통해 자동으로 식자재 발주까지 구현</a:t>
            </a:r>
            <a:endParaRPr lang="en-US" altLang="ko-KR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D15B3D8-8BE2-48AD-B62E-DD72D568984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7407" y="1957319"/>
            <a:ext cx="2263320" cy="4150385"/>
          </a:xfrm>
          <a:prstGeom prst="rect">
            <a:avLst/>
          </a:prstGeom>
        </p:spPr>
      </p:pic>
      <p:pic>
        <p:nvPicPr>
          <p:cNvPr id="13" name="그림 12">
            <a:extLst>
              <a:ext uri="{FF2B5EF4-FFF2-40B4-BE49-F238E27FC236}">
                <a16:creationId xmlns:a16="http://schemas.microsoft.com/office/drawing/2014/main" id="{EAAB175F-EC06-440A-B977-3E09EF36818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801398" y="1957319"/>
            <a:ext cx="1935123" cy="4259434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3058851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ko-KR" altLang="en-US" sz="3600" dirty="0"/>
              <a:t>기대효과 분석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749884"/>
            <a:ext cx="7863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dirty="0" err="1"/>
              <a:t>버려지는</a:t>
            </a:r>
            <a:r>
              <a:rPr dirty="0"/>
              <a:t> </a:t>
            </a:r>
            <a:r>
              <a:rPr dirty="0" err="1"/>
              <a:t>식재료</a:t>
            </a:r>
            <a:r>
              <a:rPr dirty="0"/>
              <a:t> </a:t>
            </a:r>
            <a:r>
              <a:rPr dirty="0" err="1"/>
              <a:t>구매</a:t>
            </a:r>
            <a:r>
              <a:rPr dirty="0"/>
              <a:t> </a:t>
            </a:r>
            <a:r>
              <a:rPr dirty="0" err="1"/>
              <a:t>비용</a:t>
            </a:r>
            <a:r>
              <a:rPr dirty="0"/>
              <a:t> </a:t>
            </a:r>
            <a:r>
              <a:rPr dirty="0" err="1"/>
              <a:t>원천</a:t>
            </a:r>
            <a:r>
              <a:rPr dirty="0"/>
              <a:t> </a:t>
            </a:r>
            <a:r>
              <a:rPr dirty="0" err="1"/>
              <a:t>차단</a:t>
            </a:r>
            <a:r>
              <a:rPr dirty="0"/>
              <a:t> (</a:t>
            </a:r>
            <a:r>
              <a:rPr dirty="0" err="1"/>
              <a:t>예산</a:t>
            </a:r>
            <a:r>
              <a:rPr dirty="0"/>
              <a:t> </a:t>
            </a:r>
            <a:r>
              <a:rPr dirty="0" err="1"/>
              <a:t>누수</a:t>
            </a:r>
            <a:r>
              <a:rPr dirty="0"/>
              <a:t> </a:t>
            </a:r>
            <a:r>
              <a:rPr dirty="0" err="1"/>
              <a:t>방지</a:t>
            </a:r>
            <a:r>
              <a:rPr dirty="0"/>
              <a:t>)</a:t>
            </a:r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음식물 쓰레기 위탁 처리 비용 급감 </a:t>
            </a:r>
            <a:r>
              <a:rPr lang="en-US" altLang="ko-KR" dirty="0"/>
              <a:t>(</a:t>
            </a:r>
            <a:r>
              <a:rPr lang="ko-KR" altLang="en-US" dirty="0"/>
              <a:t>월 평균 수십만 원 절약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절감된 예산은 급식 단가 인상 및 고품질 식재료 구매에 재투자 가능</a:t>
            </a:r>
            <a:endParaRPr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D39FA5E9-E59F-46EB-8C5C-7A3E1E25B9EE}"/>
              </a:ext>
            </a:extLst>
          </p:cNvPr>
          <p:cNvSpPr txBox="1"/>
          <p:nvPr/>
        </p:nvSpPr>
        <p:spPr>
          <a:xfrm>
            <a:off x="457200" y="1238916"/>
            <a:ext cx="216946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경제적 효용성 분석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139D581-26CC-469D-9DB3-187D801A2E18}"/>
              </a:ext>
            </a:extLst>
          </p:cNvPr>
          <p:cNvSpPr txBox="1"/>
          <p:nvPr/>
        </p:nvSpPr>
        <p:spPr>
          <a:xfrm>
            <a:off x="640080" y="3325818"/>
            <a:ext cx="786384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기존 업무를 방해하지 않는 직관적인 </a:t>
            </a:r>
            <a:r>
              <a:rPr lang="en-US" altLang="ko-KR" dirty="0"/>
              <a:t>UI/UX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오늘 채소류 콩나물무침은 평소 대비 </a:t>
            </a:r>
            <a:r>
              <a:rPr lang="en-US" altLang="ko-KR" dirty="0"/>
              <a:t>35% </a:t>
            </a:r>
            <a:r>
              <a:rPr lang="ko-KR" altLang="en-US" dirty="0"/>
              <a:t>하향 조리를 권장합니다</a:t>
            </a:r>
            <a:r>
              <a:rPr lang="en-US" altLang="ko-KR" dirty="0"/>
              <a:t>" </a:t>
            </a:r>
            <a:br>
              <a:rPr lang="en-US" altLang="ko-KR" dirty="0"/>
            </a:br>
            <a:r>
              <a:rPr lang="ko-KR" altLang="en-US" dirty="0"/>
              <a:t>실시간 알림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모바일 그린 리포트 기능을 통해 학교장 및 학부모에게 성과 공유 용이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2572F82D-9A5E-4BCB-B732-960E110E95F8}"/>
              </a:ext>
            </a:extLst>
          </p:cNvPr>
          <p:cNvSpPr txBox="1"/>
          <p:nvPr/>
        </p:nvSpPr>
        <p:spPr>
          <a:xfrm>
            <a:off x="457200" y="2814850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영양사 맞춤형 </a:t>
            </a:r>
            <a:r>
              <a:rPr lang="en-US" altLang="ko-KR" sz="1800" b="1" dirty="0"/>
              <a:t>AI-</a:t>
            </a:r>
            <a:r>
              <a:rPr lang="en-US" altLang="ko-KR" sz="1800" b="1" dirty="0" err="1"/>
              <a:t>EcoTable</a:t>
            </a:r>
            <a:r>
              <a:rPr lang="en-US" altLang="ko-KR" sz="1800" b="1" dirty="0"/>
              <a:t> </a:t>
            </a:r>
            <a:r>
              <a:rPr lang="ko-KR" altLang="en-US" sz="1800" b="1" dirty="0"/>
              <a:t>대시보드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D5EAEB8-05E1-4027-A346-17B630114DCE}"/>
              </a:ext>
            </a:extLst>
          </p:cNvPr>
          <p:cNvSpPr txBox="1"/>
          <p:nvPr/>
        </p:nvSpPr>
        <p:spPr>
          <a:xfrm>
            <a:off x="640080" y="5178663"/>
            <a:ext cx="786384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전국 </a:t>
            </a:r>
            <a:r>
              <a:rPr lang="ko-KR" altLang="en-US" dirty="0" err="1"/>
              <a:t>확산성</a:t>
            </a:r>
            <a:r>
              <a:rPr lang="en-US" altLang="ko-KR" dirty="0"/>
              <a:t>: </a:t>
            </a:r>
            <a:r>
              <a:rPr lang="ko-KR" altLang="en-US" dirty="0" err="1"/>
              <a:t>나이스</a:t>
            </a:r>
            <a:r>
              <a:rPr lang="en-US" altLang="ko-KR" dirty="0"/>
              <a:t>(NEIS) </a:t>
            </a:r>
            <a:r>
              <a:rPr lang="ko-KR" altLang="en-US" dirty="0"/>
              <a:t>표준 개방 데이터로 모든 학교에 즉시 연동 가능 </a:t>
            </a:r>
            <a:endParaRPr lang="en-US" altLang="ko-KR" dirty="0"/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비용 효율성</a:t>
            </a:r>
            <a:r>
              <a:rPr lang="en-US" altLang="ko-KR" dirty="0"/>
              <a:t>: </a:t>
            </a:r>
            <a:r>
              <a:rPr lang="ko-KR" altLang="en-US" dirty="0"/>
              <a:t>인프라 설치 비용 </a:t>
            </a:r>
            <a:r>
              <a:rPr lang="en-US" altLang="ko-KR" dirty="0"/>
              <a:t>Zero (</a:t>
            </a:r>
            <a:r>
              <a:rPr lang="ko-KR" altLang="en-US" dirty="0"/>
              <a:t>소프트웨어 방식</a:t>
            </a:r>
            <a:r>
              <a:rPr lang="en-US" altLang="ko-KR" dirty="0"/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정책 제언</a:t>
            </a:r>
            <a:r>
              <a:rPr lang="en-US" altLang="ko-KR" dirty="0"/>
              <a:t>: </a:t>
            </a:r>
            <a:r>
              <a:rPr lang="ko-KR" altLang="en-US" dirty="0"/>
              <a:t>교육부 차원의 </a:t>
            </a:r>
            <a:r>
              <a:rPr lang="en-US" altLang="ko-KR" dirty="0"/>
              <a:t>"</a:t>
            </a:r>
            <a:r>
              <a:rPr lang="ko-KR" altLang="en-US" dirty="0"/>
              <a:t>데이터 기반 탄소 중립 급식 지수</a:t>
            </a:r>
            <a:r>
              <a:rPr lang="en-US" altLang="ko-KR" dirty="0"/>
              <a:t>" </a:t>
            </a:r>
            <a:r>
              <a:rPr lang="ko-KR" altLang="en-US" dirty="0"/>
              <a:t>신설 제안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2B49D936-8DCF-4094-95A5-5CACA5228D57}"/>
              </a:ext>
            </a:extLst>
          </p:cNvPr>
          <p:cNvSpPr txBox="1"/>
          <p:nvPr/>
        </p:nvSpPr>
        <p:spPr>
          <a:xfrm>
            <a:off x="457200" y="4667695"/>
            <a:ext cx="41148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>
                <a:solidFill>
                  <a:srgbClr val="212121"/>
                </a:solidFill>
              </a:defRPr>
            </a:pPr>
            <a:r>
              <a:rPr lang="ko-KR" altLang="en-US" sz="1800" b="1" dirty="0"/>
              <a:t>전국 확산 로드맵 및 정책 제언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E7D32"/>
          </a:solidFill>
          <a:ln>
            <a:solidFill>
              <a:srgbClr val="2E7D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137160"/>
            <a:ext cx="1107996" cy="646331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rPr lang="ko-KR" altLang="en-US" sz="3600" dirty="0"/>
              <a:t>결론</a:t>
            </a:r>
            <a:endParaRPr sz="3600" dirty="0"/>
          </a:p>
        </p:txBody>
      </p:sp>
      <p:sp>
        <p:nvSpPr>
          <p:cNvPr id="4" name="TextBox 3"/>
          <p:cNvSpPr txBox="1"/>
          <p:nvPr/>
        </p:nvSpPr>
        <p:spPr>
          <a:xfrm>
            <a:off x="640080" y="1741348"/>
            <a:ext cx="7863840" cy="29556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en-US" altLang="ko-KR" b="1" dirty="0"/>
              <a:t>[</a:t>
            </a:r>
            <a:r>
              <a:rPr lang="ko-KR" altLang="en-US" b="1" dirty="0"/>
              <a:t>데이터로 그리는 탄소 중립 학교</a:t>
            </a:r>
            <a:r>
              <a:rPr lang="en-US" altLang="ko-KR" b="1" dirty="0"/>
              <a:t>]</a:t>
            </a:r>
            <a:r>
              <a:rPr lang="en-US" altLang="ko-KR" dirty="0"/>
              <a:t>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en-US" altLang="ko-KR" dirty="0"/>
              <a:t>AI-</a:t>
            </a:r>
            <a:r>
              <a:rPr lang="en-US" altLang="ko-KR" dirty="0" err="1"/>
              <a:t>EcoTable</a:t>
            </a:r>
            <a:r>
              <a:rPr lang="ko-KR" altLang="en-US" dirty="0"/>
              <a:t>은 학교 급식을 넘어 군부대</a:t>
            </a:r>
            <a:r>
              <a:rPr lang="en-US" altLang="ko-KR" dirty="0"/>
              <a:t>, </a:t>
            </a:r>
            <a:r>
              <a:rPr lang="ko-KR" altLang="en-US" dirty="0"/>
              <a:t>기업 등 모든 집단 급식소에 적용 가능한 </a:t>
            </a:r>
            <a:r>
              <a:rPr lang="en-US" altLang="ko-KR" dirty="0"/>
              <a:t>ESG </a:t>
            </a:r>
            <a:r>
              <a:rPr lang="ko-KR" altLang="en-US" dirty="0"/>
              <a:t>실증 모델이다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공공 데이터를 통해 연간 수백억 원의 예산 낭비를 막고</a:t>
            </a:r>
            <a:r>
              <a:rPr lang="en-US" altLang="ko-KR" dirty="0"/>
              <a:t>, </a:t>
            </a:r>
            <a:r>
              <a:rPr lang="ko-KR" altLang="en-US" dirty="0"/>
              <a:t>아이들의 미래를 위한 탄소 중립을 실천합니다</a:t>
            </a:r>
            <a:r>
              <a:rPr lang="en-US" altLang="ko-KR" dirty="0"/>
              <a:t>. </a:t>
            </a:r>
          </a:p>
          <a:p>
            <a:pPr>
              <a:lnSpc>
                <a:spcPct val="150000"/>
              </a:lnSpc>
              <a:defRPr sz="1800">
                <a:solidFill>
                  <a:srgbClr val="212121"/>
                </a:solidFill>
              </a:defRPr>
            </a:pPr>
            <a:r>
              <a:rPr lang="ko-KR" altLang="en-US" dirty="0"/>
              <a:t>저희의 도전은 단순한 개발을 넘어</a:t>
            </a:r>
            <a:r>
              <a:rPr lang="en-US" altLang="ko-KR" dirty="0"/>
              <a:t>, </a:t>
            </a:r>
            <a:r>
              <a:rPr lang="ko-KR" altLang="en-US" dirty="0"/>
              <a:t>데이터로 사회 문제를 해결하는 첫걸음입니다</a:t>
            </a:r>
            <a:r>
              <a:rPr lang="en-US" altLang="ko-KR" dirty="0"/>
              <a:t>.</a:t>
            </a:r>
            <a:endParaRPr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57EAF1B4-D2DA-4932-872D-2D48B4F539A1}"/>
              </a:ext>
            </a:extLst>
          </p:cNvPr>
          <p:cNvSpPr txBox="1"/>
          <p:nvPr/>
        </p:nvSpPr>
        <p:spPr>
          <a:xfrm>
            <a:off x="2940423" y="5341034"/>
            <a:ext cx="326315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>
                <a:solidFill>
                  <a:srgbClr val="212121"/>
                </a:solidFill>
              </a:defRPr>
            </a:pPr>
            <a:r>
              <a:rPr lang="ko-KR" altLang="en-US" sz="3200" dirty="0"/>
              <a:t>감사합니다</a:t>
            </a:r>
            <a:r>
              <a:rPr lang="en-US" altLang="ko-KR" sz="3200" dirty="0"/>
              <a:t>.</a:t>
            </a:r>
            <a:endParaRPr lang="ko-KR" altLang="en-US" sz="3200" dirty="0"/>
          </a:p>
        </p:txBody>
      </p:sp>
    </p:spTree>
    <p:extLst>
      <p:ext uri="{BB962C8B-B14F-4D97-AF65-F5344CB8AC3E}">
        <p14:creationId xmlns:p14="http://schemas.microsoft.com/office/powerpoint/2010/main" val="291723991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webextensions/_rels/taskpanes.xml.rels><?xml version="1.0" encoding="UTF-8" standalone="yes"?>
<Relationships xmlns="http://schemas.openxmlformats.org/package/2006/relationships"><Relationship Id="rId1" Type="http://schemas.microsoft.com/office/2011/relationships/webextension" Target="webextension1.xml"/></Relationships>
</file>

<file path=ppt/webextensions/taskpanes.xml><?xml version="1.0" encoding="utf-8"?>
<wetp:taskpanes xmlns:wetp="http://schemas.microsoft.com/office/webextensions/taskpanes/2010/11">
  <wetp:taskpane dockstate="right" visibility="0" width="350" row="0">
    <wetp:webextensionref xmlns:r="http://schemas.openxmlformats.org/officeDocument/2006/relationships" r:id="rId1"/>
  </wetp:taskpane>
</wetp:taskpanes>
</file>

<file path=ppt/webextensions/webextension1.xml><?xml version="1.0" encoding="utf-8"?>
<we:webextension xmlns:we="http://schemas.microsoft.com/office/webextensions/webextension/2010/11" id="{41D1BA29-52E0-4FAC-80C2-19ACAB2DFD32}">
  <we:reference id="wa200010001" version="1.0.0.1" store="ko-KR" storeType="OMEX"/>
  <we:alternateReferences>
    <we:reference id="WA200010001" version="1.0.0.1" store="" storeType="OMEX"/>
  </we:alternateReferences>
  <we:properties>
    <we:property name="claude.fileId" value="&quot;b730fed6-493e-4fe4-810c-f130c9ff9446&quot;"/>
  </we:properties>
  <we:bindings/>
  <we:snapshot xmlns:r="http://schemas.openxmlformats.org/officeDocument/2006/relationships"/>
</we:webextension>
</file>

<file path=docProps/app.xml><?xml version="1.0" encoding="utf-8"?>
<Properties xmlns="http://schemas.openxmlformats.org/officeDocument/2006/extended-properties" xmlns:vt="http://schemas.openxmlformats.org/officeDocument/2006/docPropsVTypes">
  <TotalTime>219</TotalTime>
  <Words>1127</Words>
  <Application>Microsoft Office PowerPoint</Application>
  <PresentationFormat>화면 슬라이드 쇼(4:3)</PresentationFormat>
  <Paragraphs>98</Paragraphs>
  <Slides>15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15</vt:i4>
      </vt:variant>
    </vt:vector>
  </HeadingPairs>
  <TitlesOfParts>
    <vt:vector size="20" baseType="lpstr">
      <vt:lpstr>ui-sans-serif</vt:lpstr>
      <vt:lpstr>맑은 고딕</vt:lpstr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subject/>
  <dc:creator>ALEX_BOB</dc:creator>
  <cp:keywords/>
  <dc:description>generated using python-pptx</dc:description>
  <cp:lastModifiedBy>Bob Alex</cp:lastModifiedBy>
  <cp:revision>27</cp:revision>
  <dcterms:created xsi:type="dcterms:W3CDTF">2013-01-27T09:14:16Z</dcterms:created>
  <dcterms:modified xsi:type="dcterms:W3CDTF">2026-05-10T02:43:44Z</dcterms:modified>
  <cp:category/>
</cp:coreProperties>
</file>