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배경: 학교 급식소의 부드러운 이미지 또는 지구/녹색 환경 배경 (희미하게)</a:t>
            </a:r>
            <a:br/>
            <a:r>
              <a:t>악센트: 우측 상단에 AI 기술 아이콘 (네트워크 노드, 데이터 흐름)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학교 급식 카운터의 음식물 쓰레기통 사진 또는 버려지는 음식 이미지</a:t>
            </a:r>
            <a:br/>
            <a:r>
              <a:t>우측: 524억 원, 885만 톤 수치의 그래프 (빨간/주황 강조색)</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비싼 AI 카메라/스캐너 장비 이미지 또는 설치된 기계 사진</a:t>
            </a:r>
            <a:br/>
            <a:r>
              <a:t>우측: 금액 수치("수천억 원", "대당 수백만 원") 또는 금지 기호 (어두운 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상단: 데이터 흐름 다이어그램 (학교 → 정보 → AI 분석 → 영양사 알림)</a:t>
            </a:r>
            <a:br/>
            <a:r>
              <a:t>우측: 영양사가 앱을 사용하는 모습 또는 AI 시스템 추상 표현 (클라우드, 노드)</a:t>
            </a:r>
            <a:br/>
            <a:r>
              <a:t>색상: 초록색(#2E7D32) 강조</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중앙: "85%", "30.9톤" 큰 숫자 강조</a:t>
            </a:r>
            <a:br/>
            <a:r>
              <a:t>배경: 상향 화살표 또는 성장 그래프, 또는 환경 복구 이미지 (식목, 초록색 지구)</a:t>
            </a:r>
            <a:br/>
            <a:r>
              <a:t>우측 하단: "소나무 500그루" 또는 "승용차 수백 대" 텍스트</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NEIS 로고 또는 교육부 공공 데이터 포털 스크린샷</a:t>
            </a:r>
            <a:br/>
            <a:r>
              <a:t>중앙: 데이터 흐름 (NEIS API → 실시간 수집 → AI 분석)</a:t>
            </a:r>
            <a:br/>
            <a:r>
              <a:t>우측: 한국 지도에 12,000개 학교를 점으로 표시 (전국 범용성 강조)</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환경부 LCI 데이터베이스 인터페이스 또는 식재료별 탄소 계수 차트</a:t>
            </a:r>
            <a:br/>
            <a:r>
              <a:t>중앙: 식재료 아이콘 + 탄소 배출 계수 수식</a:t>
            </a:r>
            <a:br/>
            <a:r>
              <a:t>우측: 계산 흐름 시각화 (식단정보 + 탄소계수 = 감축량)</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전체: 원형 또는 선형의 4분기 사이클 다이어그램</a:t>
            </a:r>
            <a:br/>
            <a:r>
              <a:t>Q1~Q4: 각 단계별 아이콘 (데이터수집, 분석, 실행, 최적화)</a:t>
            </a:r>
            <a:br/>
            <a:r>
              <a:t>색상: Q1 연초록 → Q2 밝은초록 → Q3 짙은초록 → Q4 매우짙은초록</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Q1 데이터 시각화 (7.3톤 대형, 구성비 파이 차트 55/40%)</a:t>
            </a:r>
            <a:br/>
            <a:r>
              <a:t>중앙: 다운 화살표 강조 (34% 감축)</a:t>
            </a:r>
            <a:br/>
            <a:r>
              <a:t>우측: Q2 결과 (4.8톤), "2.5톤 절감" 강조</a:t>
            </a:r>
            <a:br/>
            <a:r>
              <a:t>배경: 돈 기호, 비용 절감 그래프</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상승 그래프 (Q2 34% → Q3 65% → Q4 85%)</a:t>
            </a:r>
            <a:br/>
            <a:r>
              <a:t>우측 상단: Q3 시기 아이콘 (여름방학, 개학, 추석)</a:t>
            </a:r>
            <a:br/>
            <a:r>
              <a:t>우측 하단: Q4 완성 (체크마크, 안정화 기호)</a:t>
            </a:r>
            <a:br/>
            <a:r>
              <a:t>색상: 초록색 진화 (밝음 → 진함)</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중앙 대형: "30.9톤" 강조 표시</a:t>
            </a:r>
            <a:br/>
            <a:r>
              <a:t>좌상단: 소나무 아이콘 + "500~700그루" 텍스트</a:t>
            </a:r>
            <a:br/>
            <a:r>
              <a:t>우상단: 승용차 아이콘 + "10대 연간 배출량"</a:t>
            </a:r>
            <a:br/>
            <a:r>
              <a:t>배경/하단: 지구 이미지 또는 환경 복구 상징</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상단 좌측: 식재료 쇼핑백 + "구매비 170만 원/월 절감"</a:t>
            </a:r>
            <a:br/>
            <a:r>
              <a:t>상단 우측: 쓰레기통 아이콘 + "처리비 50~60만 원/월 절감"</a:t>
            </a:r>
            <a:br/>
            <a:r>
              <a:t>중앙: 화살표 (위쪽) - "절감액 재투자"</a:t>
            </a:r>
            <a:br/>
            <a:r>
              <a:t>하단: 우상향 그래프 (급식 품질, 영양, 만족도 향상)</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좌측 대형: AI-EcoTable 대시보드 스크린샷/목업 (메뉴별 % 조정률 표시)</a:t>
            </a:r>
            <a:br/>
            <a:r>
              <a:t>우상단: 영양사가 태블릿 사용하는 모습</a:t>
            </a:r>
            <a:br/>
            <a:r>
              <a:t>우하단: 모바일 그린 리포트 예시 카드</a:t>
            </a:r>
            <a:br/>
            <a:r>
              <a:t>색상: 초록색 + 흰색 배경 (사용자 친화적)</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상단 좌측: 타임라인 (현재 → 파일럿1년 → 확산2~3년)</a:t>
            </a:r>
            <a:br/>
            <a:r>
              <a:t>상단 우측: 전국 지도 (초록색 점 확산 애니메이션)</a:t>
            </a:r>
            <a:br/>
            <a:r>
              <a:t>중앙: 비용 비교 그래프 (기존 하드웨어 vs AI-EcoTable)</a:t>
            </a:r>
            <a:br/>
            <a:r>
              <a:t>하단: 정책 아이콘 (지표신설, 평가제도, 인센티브)</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【이미지 추천】</a:t>
            </a:r>
            <a:br/>
            <a:r>
              <a:t>상단: "데이터 과학으로 시작하는 탄소 중립 학교" 대형 텍스트</a:t>
            </a:r>
            <a:br/>
            <a:r>
              <a:t>중앙 좌측: 3개 기둥 (경제성/환경성/실현성) 또는 피라미드</a:t>
            </a:r>
            <a:br/>
            <a:r>
              <a:t>중앙 우측: 미래 비전 이미지 (초록빛 학교, 탄소감축 수치 증가)</a:t>
            </a:r>
            <a:br/>
            <a:r>
              <a:t>하단: 슬로건 "공공데이터와 AI로, 지속가능한 미래를 만들다"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AI-EcoTable</a:t>
            </a:r>
          </a:p>
        </p:txBody>
      </p:sp>
      <p:sp>
        <p:nvSpPr>
          <p:cNvPr id="3" name="TextBox 2"/>
          <p:cNvSpPr txBox="1"/>
          <p:nvPr/>
        </p:nvSpPr>
        <p:spPr>
          <a:xfrm>
            <a:off x="457200" y="3840480"/>
            <a:ext cx="8229600" cy="1828800"/>
          </a:xfrm>
          <a:prstGeom prst="rect">
            <a:avLst/>
          </a:prstGeom>
          <a:noFill/>
        </p:spPr>
        <p:txBody>
          <a:bodyPr wrap="square">
            <a:spAutoFit/>
          </a:bodyPr>
          <a:lstStyle/>
          <a:p>
            <a:pPr algn="ctr">
              <a:defRPr sz="2400">
                <a:solidFill>
                  <a:srgbClr val="F1F8E9"/>
                </a:solidFill>
              </a:defRPr>
            </a:pPr>
            <a:r>
              <a:t>공공데이터와 AI를 활용한 학교 급식 잔반 예측 및 탄소 배출 저감 솔루션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주제선정 1: 급식의 그림자</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전국 12,000개 초·중·고교에서 매일 발생하는 급식 잔반은 단순한 음식물 쓰레기가 아닙니다. 이미 조리된 식재료를 구매하는 과정에서 예산이 책정되고, 학교는 이를 결국 버리면서 이중의 경제적 손실을 입고 있습니다.</a:t>
            </a:r>
            <a:br/>
            <a:br/>
            <a:r>
              <a:t>연간 524억 원이라는 수치는 서울시 일개 교육청의 급식 예산에 해당하는 규모이며, 이는 단순 처리 비용만 계산한 것입니다. 더 심각한 것은 환경 측면입니다. 이 음식물 쓰레기를 처리하는 과정에서 발생하는 온실가스가 연간 885만 톤 CO2-eq에 이르며, 이는 승용차 약 200만 대가 1년간 배출하는 양과 비슷합니다.</a:t>
            </a:r>
            <a:br/>
            <a:br/>
            <a:r>
              <a:t>기존의 캠페인이나 계몽 활동도 한계에 도달했습니다. 학생들에게 "음식을 남기지 말자"는 메시지는 이미 충분히 전달되었지만, 근본적인 문제는 영양사가 각 학교의 학생 식습관 데이터 없이 경험에만 의존하여 조리량을 결정한다는 점입니다.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전국 12,000개 초·중·고교에서 매일 발생하는 급식 잔반은 단순한 음식물 쓰레기가 아닙니다. 이미 조리된 식재료를 구매하는 과정에서 예산이 책정되고, 학교는 이를 결국 버리면서 이중의 경제적 손실을 입고 있습니다.</a:t>
            </a:r>
            <a:br/>
            <a:br/>
            <a:r>
              <a:t>연간 524억 원이라는 수치는 서울시 일개 교육청의 급식 예산에 해당하는 규모이며, 이는 단순 처리 비용만 계산한 것입니다. 더 심각한 것은 환경 측면입니다. 이 음식물 쓰레기를 처리하는 과정에서 발생하는 온실가스가 연간 885만 톤 CO2-eq에 이르며, 이는 승용차 약 200만 대가 1년간 배출하는 양과 비슷합니다.</a:t>
            </a:r>
            <a:br/>
            <a:br/>
            <a:r>
              <a:t>기존의 캠페인이나 계몽 활동도 한계에 도달했습니다. 학생들에게 "음식을 남기지 말자"는 메시지는 이미 충분히 전달되었지만, 근본적인 문제는 영양사가 각 학교의 학생 식습관 데이터 없이 경험에만 의존하여 조리량을 결정한다는 점입니다.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전국 12,000개 초·중·고교에서 매일 발생하는 급식 잔반은 단순한 음식물 쓰레기가 아닙니다. 이미 조리된 식재료를 구매하는 과정에서 예산이 책정되고, 학교는 이를 결국 버리면서 이중의 경제적 손실을 입고 있습니다.</a:t>
            </a:r>
            <a:br/>
            <a:br/>
            <a:r>
              <a:t>연간 524억 원이라는 수치는 서울시 일개 교육청의 급식 예산에 해당하는 규모이며, 이는 단순 처리 비용만 계산한 것입니다. 더 심각한 것은 환경 측면입니다. 이 음식물 쓰레기를 처리하는 과정에서 발생하는 온실가스가 연간 885만 톤 CO2-eq에 이르며, 이는 승용차 약 200만 대가 1년간 배출하는 양과 비슷합니다.</a:t>
            </a:r>
            <a:br/>
            <a:br/>
            <a:r>
              <a:t>기존의 캠페인이나 계몽 활동도 한계에 도달했습니다. 학생들에게 "음식을 남기지 말자"는 메시지는 이미 충분히 전달되었지만, 근본적인 문제는 영양사가 각 학교의 학생 식습관 데이터 없이 경험에만 의존하여 조리량을 결정한다는 점입니다.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주제선정 2: 기존 해결책의 한계</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현재 시장에 출시된 몇몇 AI 스캐너 솔루션들은 실제로 학교 급식 잔반 감축에 성과를 보이고 있습니다. 예를 들어, 울주군의 한 고등학교는 AI 푸드 스캐너 도입으로 26.6%의 잔반을 감축했고, 일부 업체의 솔루션은 30% 이상의 감축률을 달성하고 있습니다.</a:t>
            </a:r>
            <a:br/>
            <a:br/>
            <a:r>
              <a:t>그러나 이러한 솔루션의 가장 큰 문제는 진입장벽입니다. 카메라와 센서로 구성된 고가의 하드웨어가 대당 수백만 원대에 달하고, 전국 12,000개 학교에 도입하려면 수천억 원대의 국가 예산이 필요합니다. 게다가 기계가 고장 나면 유지보수까지 추가 비용이 발생하며, 물리적 공간 제약 때문에 모든 학교의 급식소에 설치할 수 없습니다.</a:t>
            </a:r>
            <a:br/>
            <a:br/>
            <a:r>
              <a:t>이는 실제로 정부 정책으로 추진되기 어려운 구조입니다. 또한 이러한 하드웨어 기반 솔루션은 특정 업체에 종속되어 있어 상품 단가 인하나 기술 개선이 어렵습니다.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현재 시장에 출시된 몇몇 AI 스캐너 솔루션들은 실제로 학교 급식 잔반 감축에 성과를 보이고 있습니다. 예를 들어, 울주군의 한 고등학교는 AI 푸드 스캐너 도입으로 26.6%의 잔반을 감축했고, 일부 업체의 솔루션은 30% 이상의 감축률을 달성하고 있습니다.</a:t>
            </a:r>
            <a:br/>
            <a:br/>
            <a:r>
              <a:t>그러나 이러한 솔루션의 가장 큰 문제는 진입장벽입니다. 카메라와 센서로 구성된 고가의 하드웨어가 대당 수백만 원대에 달하고, 전국 12,000개 학교에 도입하려면 수천억 원대의 국가 예산이 필요합니다. 게다가 기계가 고장 나면 유지보수까지 추가 비용이 발생하며, 물리적 공간 제약 때문에 모든 학교의 급식소에 설치할 수 없습니다.</a:t>
            </a:r>
            <a:br/>
            <a:br/>
            <a:r>
              <a:t>이는 실제로 정부 정책으로 추진되기 어려운 구조입니다. 또한 이러한 하드웨어 기반 솔루션은 특정 업체에 종속되어 있어 상품 단가 인하나 기술 개선이 어렵습니다.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현재 시장에 출시된 몇몇 AI 스캐너 솔루션들은 실제로 학교 급식 잔반 감축에 성과를 보이고 있습니다. 예를 들어, 울주군의 한 고등학교는 AI 푸드 스캐너 도입으로 26.6%의 잔반을 감축했고, 일부 업체의 솔루션은 30% 이상의 감축률을 달성하고 있습니다.</a:t>
            </a:r>
            <a:br/>
            <a:br/>
            <a:r>
              <a:t>그러나 이러한 솔루션의 가장 큰 문제는 진입장벽입니다. 카메라와 센서로 구성된 고가의 하드웨어가 대당 수백만 원대에 달하고, 전국 12,000개 학교에 도입하려면 수천억 원대의 국가 예산이 필요합니다. 게다가 기계가 고장 나면 유지보수까지 추가 비용이 발생하며, 물리적 공간 제약 때문에 모든 학교의 급식소에 설치할 수 없습니다.</a:t>
            </a:r>
            <a:br/>
            <a:br/>
            <a:r>
              <a:t>이는 실제로 정부 정책으로 추진되기 어려운 구조입니다. 또한 이러한 하드웨어 기반 솔루션은 특정 업체에 종속되어 있어 상품 단가 인하나 기술 개선이 어렵습니다.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솔루션 개요: 데이터 중심의 접근</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AI-EcoTable의 핵심 철학은 "사후 처리"에서 "사전 예측"으로의 전환입니다. 기존의 문제는 음식물 쓰레기가 발생한 후에 처리하는 방식이었습니다.</a:t>
            </a:r>
            <a:br/>
            <a:br/>
            <a:r>
              <a:t>AI-EcoTable은 이와 다르게, 그날의 식단, 학생 수, 날씨, 요일, 계절, 과거의 해당 메뉴에 대한 소비 패턴 등을 종합 분석하여 "오늘 이 메뉴는 평소 대비 20% 덜 조리해야 한다"는 지침을 영양사에게 실시간으로 제공합니다.</a:t>
            </a:r>
            <a:br/>
            <a:br/>
            <a:r>
              <a:t>이 솔루션은 소프트웨어 기반이므로 추가 하드웨어 설치가 전혀 필요 없습니다. 영양사가 이미 사용하고 있는 학교 PC나 태블릿에서 웹 앱으로 접속하면 즉시 AI 분석 결과를 받을 수 있습니다. 데이터는 교육부의 공공 API인 나이스(NEIS) 시스템에서 실시간으로 수집되며, 환경부의 국가 LCI 데이터베이스를 활용하여 탄소 감축량을 정확히 계산합니다.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AI-EcoTable의 핵심 철학은 "사후 처리"에서 "사전 예측"으로의 전환입니다. 기존의 문제는 음식물 쓰레기가 발생한 후에 처리하는 방식이었습니다.</a:t>
            </a:r>
            <a:br/>
            <a:br/>
            <a:r>
              <a:t>AI-EcoTable은 이와 다르게, 그날의 식단, 학생 수, 날씨, 요일, 계절, 과거의 해당 메뉴에 대한 소비 패턴 등을 종합 분석하여 "오늘 이 메뉴는 평소 대비 20% 덜 조리해야 한다"는 지침을 영양사에게 실시간으로 제공합니다.</a:t>
            </a:r>
            <a:br/>
            <a:br/>
            <a:r>
              <a:t>이 솔루션은 소프트웨어 기반이므로 추가 하드웨어 설치가 전혀 필요 없습니다. 영양사가 이미 사용하고 있는 학교 PC나 태블릿에서 웹 앱으로 접속하면 즉시 AI 분석 결과를 받을 수 있습니다. 데이터는 교육부의 공공 API인 나이스(NEIS) 시스템에서 실시간으로 수집되며, 환경부의 국가 LCI 데이터베이스를 활용하여 탄소 감축량을 정확히 계산합니다.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AI-EcoTable의 핵심 철학은 "사후 처리"에서 "사전 예측"으로의 전환입니다. 기존의 문제는 음식물 쓰레기가 발생한 후에 처리하는 방식이었습니다.</a:t>
            </a:r>
            <a:br/>
            <a:br/>
            <a:r>
              <a:t>AI-EcoTable은 이와 다르게, 그날의 식단, 학생 수, 날씨, 요일, 계절, 과거의 해당 메뉴에 대한 소비 패턴 등을 종합 분석하여 "오늘 이 메뉴는 평소 대비 20% 덜 조리해야 한다"는 지침을 영양사에게 실시간으로 제공합니다.</a:t>
            </a:r>
            <a:br/>
            <a:br/>
            <a:r>
              <a:t>이 솔루션은 소프트웨어 기반이므로 추가 하드웨어 설치가 전혀 필요 없습니다. 영양사가 이미 사용하고 있는 학교 PC나 태블릿에서 웹 앱으로 접속하면 즉시 AI 분석 결과를 받을 수 있습니다. 데이터는 교육부의 공공 API인 나이스(NEIS) 시스템에서 실시간으로 수집되며, 환경부의 국가 LCI 데이터베이스를 활용하여 탄소 감축량을 정확히 계산합니다.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목표 설정</a:t>
            </a:r>
          </a:p>
        </p:txBody>
      </p:sp>
      <p:sp>
        <p:nvSpPr>
          <p:cNvPr id="4" name="Rectangle 3"/>
          <p:cNvSpPr/>
          <p:nvPr/>
        </p:nvSpPr>
        <p:spPr>
          <a:xfrm>
            <a:off x="2743200" y="1828800"/>
            <a:ext cx="3657600" cy="2286000"/>
          </a:xfrm>
          <a:prstGeom prst="rect">
            <a:avLst/>
          </a:prstGeom>
          <a:solidFill>
            <a:srgbClr val="1976D2"/>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2286000"/>
            <a:ext cx="3657600" cy="1828800"/>
          </a:xfrm>
          <a:prstGeom prst="rect">
            <a:avLst/>
          </a:prstGeom>
          <a:noFill/>
        </p:spPr>
        <p:txBody>
          <a:bodyPr wrap="square">
            <a:spAutoFit/>
          </a:bodyPr>
          <a:lstStyle/>
          <a:p>
            <a:pPr algn="ctr">
              <a:defRPr sz="6000" b="1">
                <a:solidFill>
                  <a:srgbClr val="FFFFFF"/>
                </a:solidFill>
              </a:defRPr>
            </a:pPr>
            <a:r>
              <a:t>85%</a:t>
            </a:r>
          </a:p>
        </p:txBody>
      </p:sp>
      <p:sp>
        <p:nvSpPr>
          <p:cNvPr id="6" name="TextBox 5"/>
          <p:cNvSpPr txBox="1"/>
          <p:nvPr/>
        </p:nvSpPr>
        <p:spPr>
          <a:xfrm>
            <a:off x="1828800" y="4297680"/>
            <a:ext cx="5486400" cy="457200"/>
          </a:xfrm>
          <a:prstGeom prst="rect">
            <a:avLst/>
          </a:prstGeom>
          <a:noFill/>
        </p:spPr>
        <p:txBody>
          <a:bodyPr wrap="none">
            <a:spAutoFit/>
          </a:bodyPr>
          <a:lstStyle/>
          <a:p>
            <a:pPr algn="ctr">
              <a:defRPr sz="2200">
                <a:solidFill>
                  <a:srgbClr val="2E7D32"/>
                </a:solidFill>
              </a:defRPr>
            </a:pPr>
            <a:r>
              <a:t>잔반 감축 | 30톤 탄소 저감</a:t>
            </a:r>
          </a:p>
        </p:txBody>
      </p:sp>
      <p:sp>
        <p:nvSpPr>
          <p:cNvPr id="7" name="TextBox 6"/>
          <p:cNvSpPr txBox="1"/>
          <p:nvPr/>
        </p:nvSpPr>
        <p:spPr>
          <a:xfrm>
            <a:off x="914400" y="5029200"/>
            <a:ext cx="7315200" cy="1371600"/>
          </a:xfrm>
          <a:prstGeom prst="rect">
            <a:avLst/>
          </a:prstGeom>
          <a:noFill/>
        </p:spPr>
        <p:txBody>
          <a:bodyPr wrap="square">
            <a:spAutoFit/>
          </a:bodyPr>
          <a:lstStyle/>
          <a:p>
            <a:pPr algn="ctr">
              <a:defRPr sz="1600">
                <a:solidFill>
                  <a:srgbClr val="212121"/>
                </a:solidFill>
              </a:defRPr>
            </a:pPr>
            <a:r>
              <a:t>1년 단위 실증을 통한 정량적 환경 목표 달성</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데이터 수집 1: 나이스(NEIS) 식단 정보 API</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나이스(NEIS) 교육정보개방포털은 교육부가 운영하는 국가 공공 데이터 API로, 전국 모든 학교의 급식 식단 정보를 표준화된 형식으로 제공합니다. AI-EcoTable은 이 API를 통해 매일 아침 전국 12,000개 학교의 그날 식단 정보를 실시간으로 수집합니다.</a:t>
            </a:r>
            <a:br/>
            <a:br/>
            <a:r>
              <a:t>수집되는 정보는 단순히 "오늘 밥과 국, 반찬" 수준이 아닙니다. 구체적으로 식단명(예: "쇠고기미역국", "나물비빔밥"), 식재료 구성, 알레르기 유발 물질 정보, 영양가, 그리고 해당 학교의 학년별 인원 수 등 매우 상세한 데이터입니다.</a:t>
            </a:r>
            <a:br/>
            <a:br/>
            <a:r>
              <a:t>이렇게 표준화된 데이터는 지역의 경제 상황이나 학교의 특수성에 관계없이 모든 학교에 동일하게 적용할 수 있다는 장점이 있습니다. 또한 NEIS API는 정부에서 이미 구축하고 유지보수하고 있는 인프라이므로, 추가적인 데이터 수집 비용이 전혀 들지 않습니다. 따라서 AI-EcoTable의 확산성이 매우 높습니다.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나이스(NEIS) 교육정보개방포털은 교육부가 운영하는 국가 공공 데이터 API로, 전국 모든 학교의 급식 식단 정보를 표준화된 형식으로 제공합니다. AI-EcoTable은 이 API를 통해 매일 아침 전국 12,000개 학교의 그날 식단 정보를 실시간으로 수집합니다.</a:t>
            </a:r>
            <a:br/>
            <a:br/>
            <a:r>
              <a:t>수집되는 정보는 단순히 "오늘 밥과 국, 반찬" 수준이 아닙니다. 구체적으로 식단명(예: "쇠고기미역국", "나물비빔밥"), 식재료 구성, 알레르기 유발 물질 정보, 영양가, 그리고 해당 학교의 학년별 인원 수 등 매우 상세한 데이터입니다.</a:t>
            </a:r>
            <a:br/>
            <a:br/>
            <a:r>
              <a:t>이렇게 표준화된 데이터는 지역의 경제 상황이나 학교의 특수성에 관계없이 모든 학교에 동일하게 적용할 수 있다는 장점이 있습니다. 또한 NEIS API는 정부에서 이미 구축하고 유지보수하고 있는 인프라이므로, 추가적인 데이터 수집 비용이 전혀 들지 않습니다. 따라서 AI-EcoTable의 확산성이 매우 높습니다.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나이스(NEIS) 교육정보개방포털은 교육부가 운영하는 국가 공공 데이터 API로, 전국 모든 학교의 급식 식단 정보를 표준화된 형식으로 제공합니다. AI-EcoTable은 이 API를 통해 매일 아침 전국 12,000개 학교의 그날 식단 정보를 실시간으로 수집합니다.</a:t>
            </a:r>
            <a:br/>
            <a:br/>
            <a:r>
              <a:t>수집되는 정보는 단순히 "오늘 밥과 국, 반찬" 수준이 아닙니다. 구체적으로 식단명(예: "쇠고기미역국", "나물비빔밥"), 식재료 구성, 알레르기 유발 물질 정보, 영양가, 그리고 해당 학교의 학년별 인원 수 등 매우 상세한 데이터입니다.</a:t>
            </a:r>
            <a:br/>
            <a:br/>
            <a:r>
              <a:t>이렇게 표준화된 데이터는 지역의 경제 상황이나 학교의 특수성에 관계없이 모든 학교에 동일하게 적용할 수 있다는 장점이 있습니다. 또한 NEIS API는 정부에서 이미 구축하고 유지보수하고 있는 인프라이므로, 추가적인 데이터 수집 비용이 전혀 들지 않습니다. 따라서 AI-EcoTable의 확산성이 매우 높습니다.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데이터 수집 2: 국가 LCI 데이터베이스</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AI-EcoTable이 정확한 탄소 감축량을 도출하기 위해서는 단순히 "덜 버렸다"는 정성적 평가만으로는 부족합니다. 환경부가 운영하는 국가 LCI(Life Cycle Impact) 데이터베이스는 국내 모든 주요 식재료에 대한 "생애주기 탄소 배출 계수"를 제공합니다.</a:t>
            </a:r>
            <a:br/>
            <a:br/>
            <a:r>
              <a:t>예를 들어, 쌀 1kg을 생산하고 운반, 조리, 폐기까지의 전체 과정에서 발생하는 탄소 배출량이 정확히 계산되어 있습니다. 소고기는 채소류보다 훨씬 높은 탄소 배출 계수를 가지고 있습니다.</a:t>
            </a:r>
            <a:br/>
            <a:br/>
            <a:r>
              <a:t>AI-EcoTable은 매일의 식단 정보와 이러한 LCI 탄소 계수를 결합하여, "오늘 채소 콩나물무침을 200g 덜 조리하면 X kg의 CO2-eq를 감축할 수 있다"는 정밀한 계산을 제공합니다. 이를 통해 단순한 톤 단위의 잔반 감축이 아닌, 실제 환경 영향도를 정량화할 수 있습니다.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AI-EcoTable이 정확한 탄소 감축량을 도출하기 위해서는 단순히 "덜 버렸다"는 정성적 평가만으로는 부족합니다. 환경부가 운영하는 국가 LCI(Life Cycle Impact) 데이터베이스는 국내 모든 주요 식재료에 대한 "생애주기 탄소 배출 계수"를 제공합니다.</a:t>
            </a:r>
            <a:br/>
            <a:br/>
            <a:r>
              <a:t>예를 들어, 쌀 1kg을 생산하고 운반, 조리, 폐기까지의 전체 과정에서 발생하는 탄소 배출량이 정확히 계산되어 있습니다. 소고기는 채소류보다 훨씬 높은 탄소 배출 계수를 가지고 있습니다.</a:t>
            </a:r>
            <a:br/>
            <a:br/>
            <a:r>
              <a:t>AI-EcoTable은 매일의 식단 정보와 이러한 LCI 탄소 계수를 결합하여, "오늘 채소 콩나물무침을 200g 덜 조리하면 X kg의 CO2-eq를 감축할 수 있다"는 정밀한 계산을 제공합니다. 이를 통해 단순한 톤 단위의 잔반 감축이 아닌, 실제 환경 영향도를 정량화할 수 있습니다.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AI-EcoTable이 정확한 탄소 감축량을 도출하기 위해서는 단순히 "덜 버렸다"는 정성적 평가만으로는 부족합니다. 환경부가 운영하는 국가 LCI(Life Cycle Impact) 데이터베이스는 국내 모든 주요 식재료에 대한 "생애주기 탄소 배출 계수"를 제공합니다.</a:t>
            </a:r>
            <a:br/>
            <a:br/>
            <a:r>
              <a:t>예를 들어, 쌀 1kg을 생산하고 운반, 조리, 폐기까지의 전체 과정에서 발생하는 탄소 배출량이 정확히 계산되어 있습니다. 소고기는 채소류보다 훨씬 높은 탄소 배출 계수를 가지고 있습니다.</a:t>
            </a:r>
            <a:br/>
            <a:br/>
            <a:r>
              <a:t>AI-EcoTable은 매일의 식단 정보와 이러한 LCI 탄소 계수를 결합하여, "오늘 채소 콩나물무침을 200g 덜 조리하면 X kg의 CO2-eq를 감축할 수 있다"는 정밀한 계산을 제공합니다. 이를 통해 단순한 톤 단위의 잔반 감축이 아닌, 실제 환경 영향도를 정량화할 수 있습니다.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가공 알고리즘: 1년(4분기) 피드백 루프</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AI-EcoTable의 학습 프로세스는 일반적인 머신러닝 모델과는 다릅니다. 단순히 훈련 데이터로 학습한 후 배포하는 방식이 아니라, 실제 학교 현장에서 얻어지는 매일의 피드백을 기반으로 지속적으로 개선되는 "적응형 알고리즘"을 사용합니다.</a:t>
            </a:r>
            <a:br/>
            <a:br/>
            <a:r>
              <a:t>Q1(1월~3월)은 기준점 도출 단계입니다. 이 기간 동안 AI는 아무런 개입 없이 각 학교의 식습관 데이터를 수집하고, 어떤 메뉴가 가장 많이 버려지고, 언제 버려지는지를 분석합니다.</a:t>
            </a:r>
            <a:br/>
            <a:br/>
            <a:r>
              <a:t>Q2(4월~6월)에서는 AI가 이러한 분석 결과를 바탕으로 영양사에게 구체적인 조리량 감축 지침을 제공하기 시작합니다. Q3(7월~9월)에서는 여름방학, 개학, 추석 등 계절적 변수가 반영되며, 학교는 AI의 지침을 따름으로써 실제로 잔반이 감소하는 경험을 하게 됩니다.</a:t>
            </a:r>
            <a:br/>
            <a:br/>
            <a:r>
              <a:t>Q4(10월~12월)에는 시스템이 안정화되고, 학생 수 변동, 특식 주간, 명절 연휴 등 모든 변수를 학습한 AI는 거의 자동으로 정확한 조리량 가이드를 제공하게 됩니다.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AI-EcoTable의 학습 프로세스는 일반적인 머신러닝 모델과는 다릅니다. 단순히 훈련 데이터로 학습한 후 배포하는 방식이 아니라, 실제 학교 현장에서 얻어지는 매일의 피드백을 기반으로 지속적으로 개선되는 "적응형 알고리즘"을 사용합니다.</a:t>
            </a:r>
            <a:br/>
            <a:br/>
            <a:r>
              <a:t>Q1(1월~3월)은 기준점 도출 단계입니다. 이 기간 동안 AI는 아무런 개입 없이 각 학교의 식습관 데이터를 수집하고, 어떤 메뉴가 가장 많이 버려지고, 언제 버려지는지를 분석합니다.</a:t>
            </a:r>
            <a:br/>
            <a:br/>
            <a:r>
              <a:t>Q2(4월~6월)에서는 AI가 이러한 분석 결과를 바탕으로 영양사에게 구체적인 조리량 감축 지침을 제공하기 시작합니다. Q3(7월~9월)에서는 여름방학, 개학, 추석 등 계절적 변수가 반영되며, 학교는 AI의 지침을 따름으로써 실제로 잔반이 감소하는 경험을 하게 됩니다.</a:t>
            </a:r>
            <a:br/>
            <a:br/>
            <a:r>
              <a:t>Q4(10월~12월)에는 시스템이 안정화되고, 학생 수 변동, 특식 주간, 명절 연휴 등 모든 변수를 학습한 AI는 거의 자동으로 정확한 조리량 가이드를 제공하게 됩니다.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AI-EcoTable의 학습 프로세스는 일반적인 머신러닝 모델과는 다릅니다. 단순히 훈련 데이터로 학습한 후 배포하는 방식이 아니라, 실제 학교 현장에서 얻어지는 매일의 피드백을 기반으로 지속적으로 개선되는 "적응형 알고리즘"을 사용합니다.</a:t>
            </a:r>
            <a:br/>
            <a:br/>
            <a:r>
              <a:t>Q1(1월~3월)은 기준점 도출 단계입니다. 이 기간 동안 AI는 아무런 개입 없이 각 학교의 식습관 데이터를 수집하고, 어떤 메뉴가 가장 많이 버려지고, 언제 버려지는지를 분석합니다.</a:t>
            </a:r>
            <a:br/>
            <a:br/>
            <a:r>
              <a:t>Q2(4월~6월)에서는 AI가 이러한 분석 결과를 바탕으로 영양사에게 구체적인 조리량 감축 지침을 제공하기 시작합니다. Q3(7월~9월)에서는 여름방학, 개학, 추석 등 계절적 변수가 반영되며, 학교는 AI의 지침을 따름으로써 실제로 잔반이 감소하는 경험을 하게 됩니다.</a:t>
            </a:r>
            <a:br/>
            <a:br/>
            <a:r>
              <a:t>Q4(10월~12월)에는 시스템이 안정화되고, 학생 수 변동, 특식 주간, 명절 연휴 등 모든 변수를 학습한 AI는 거의 자동으로 정확한 조리량 가이드를 제공하게 됩니다.</a:t>
            </a:r>
          </a:p>
        </p:txBody>
      </p:sp>
      <p:sp>
        <p:nvSpPr>
          <p:cNvPr id="7" name="TextBox 6"/>
          <p:cNvSpPr txBox="1"/>
          <p:nvPr/>
        </p:nvSpPr>
        <p:spPr>
          <a:xfrm>
            <a:off x="640080" y="3566160"/>
            <a:ext cx="7863840" cy="640080"/>
          </a:xfrm>
          <a:prstGeom prst="rect">
            <a:avLst/>
          </a:prstGeom>
          <a:noFill/>
        </p:spPr>
        <p:txBody>
          <a:bodyPr wrap="square">
            <a:spAutoFit/>
          </a:bodyPr>
          <a:lstStyle/>
          <a:p>
            <a:pPr>
              <a:defRPr sz="1800">
                <a:solidFill>
                  <a:srgbClr val="212121"/>
                </a:solidFill>
              </a:defRPr>
            </a:pPr>
            <a:r>
              <a:t>AI-EcoTable의 학습 프로세스는 일반적인 머신러닝 모델과는 다릅니다. 단순히 훈련 데이터로 학습한 후 배포하는 방식이 아니라, 실제 학교 현장에서 얻어지는 매일의 피드백을 기반으로 지속적으로 개선되는 "적응형 알고리즘"을 사용합니다.</a:t>
            </a:r>
            <a:br/>
            <a:br/>
            <a:r>
              <a:t>Q1(1월~3월)은 기준점 도출 단계입니다. 이 기간 동안 AI는 아무런 개입 없이 각 학교의 식습관 데이터를 수집하고, 어떤 메뉴가 가장 많이 버려지고, 언제 버려지는지를 분석합니다.</a:t>
            </a:r>
            <a:br/>
            <a:br/>
            <a:r>
              <a:t>Q2(4월~6월)에서는 AI가 이러한 분석 결과를 바탕으로 영양사에게 구체적인 조리량 감축 지침을 제공하기 시작합니다. Q3(7월~9월)에서는 여름방학, 개학, 추석 등 계절적 변수가 반영되며, 학교는 AI의 지침을 따름으로써 실제로 잔반이 감소하는 경험을 하게 됩니다.</a:t>
            </a:r>
            <a:br/>
            <a:br/>
            <a:r>
              <a:t>Q4(10월~12월)에는 시스템이 안정화되고, 학생 수 변동, 특식 주간, 명절 연휴 등 모든 변수를 학습한 AI는 거의 자동으로 정확한 조리량 가이드를 제공하게 됩니다.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시뮬레이션 결과 (Q1~Q2)</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실제 데이터 기반의 시뮬레이션은 AI-EcoTable의 실현 가능성을 증명합니다. 상정한 사례는 서울 지역의 800명 규모 일반 고등학교입니다.</a:t>
            </a:r>
            <a:br/>
            <a:br/>
            <a:r>
              <a:t>Q1(1월~3월, 약 3개월) 동안 이 학교에서 발생한 잔반은 약 7.3톤입니다. 이를 상세히 분석하면, 채소류가 55%, 국류가 40%, 기타 반찬이 5% 정도를 차지합니다. 특히 겨울철 국류(무국, 우거지국 등)는 학생들이 덜 선호하여 많이 남겨집니다.</a:t>
            </a:r>
            <a:br/>
            <a:br/>
            <a:r>
              <a:t>Q2(4월~6월)에 AI-EcoTable이 이러한 패턴을 학습하여 지침을 제공하기 시작합니다. 특정 메뉴에 대해 "5% 하향", "10% 하향", "20% 하향" 등의 구체적 지침이 주어집니다. 이를 따른 결과, Q2 잔반 발생량은 4.8톤으로 감소합니다. 이는 Q1 대비 약 34% 감축된 수치입니다.</a:t>
            </a:r>
            <a:br/>
            <a:br/>
            <a:r>
              <a:t>이렇게 줄어든 2.5톤의 식재료는 단순한 "버려지지 않은 음식"이 아닙니다. 애초에 구매하지 않아도 되는 비용을 절감하고, 조리 인력의 부담을 덜어주며, 음식물 처리 비용까지 절약할 수 있게 됩니다.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실제 데이터 기반의 시뮬레이션은 AI-EcoTable의 실현 가능성을 증명합니다. 상정한 사례는 서울 지역의 800명 규모 일반 고등학교입니다.</a:t>
            </a:r>
            <a:br/>
            <a:br/>
            <a:r>
              <a:t>Q1(1월~3월, 약 3개월) 동안 이 학교에서 발생한 잔반은 약 7.3톤입니다. 이를 상세히 분석하면, 채소류가 55%, 국류가 40%, 기타 반찬이 5% 정도를 차지합니다. 특히 겨울철 국류(무국, 우거지국 등)는 학생들이 덜 선호하여 많이 남겨집니다.</a:t>
            </a:r>
            <a:br/>
            <a:br/>
            <a:r>
              <a:t>Q2(4월~6월)에 AI-EcoTable이 이러한 패턴을 학습하여 지침을 제공하기 시작합니다. 특정 메뉴에 대해 "5% 하향", "10% 하향", "20% 하향" 등의 구체적 지침이 주어집니다. 이를 따른 결과, Q2 잔반 발생량은 4.8톤으로 감소합니다. 이는 Q1 대비 약 34% 감축된 수치입니다.</a:t>
            </a:r>
            <a:br/>
            <a:br/>
            <a:r>
              <a:t>이렇게 줄어든 2.5톤의 식재료는 단순한 "버려지지 않은 음식"이 아닙니다. 애초에 구매하지 않아도 되는 비용을 절감하고, 조리 인력의 부담을 덜어주며, 음식물 처리 비용까지 절약할 수 있게 됩니다.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실제 데이터 기반의 시뮬레이션은 AI-EcoTable의 실현 가능성을 증명합니다. 상정한 사례는 서울 지역의 800명 규모 일반 고등학교입니다.</a:t>
            </a:r>
            <a:br/>
            <a:br/>
            <a:r>
              <a:t>Q1(1월~3월, 약 3개월) 동안 이 학교에서 발생한 잔반은 약 7.3톤입니다. 이를 상세히 분석하면, 채소류가 55%, 국류가 40%, 기타 반찬이 5% 정도를 차지합니다. 특히 겨울철 국류(무국, 우거지국 등)는 학생들이 덜 선호하여 많이 남겨집니다.</a:t>
            </a:r>
            <a:br/>
            <a:br/>
            <a:r>
              <a:t>Q2(4월~6월)에 AI-EcoTable이 이러한 패턴을 학습하여 지침을 제공하기 시작합니다. 특정 메뉴에 대해 "5% 하향", "10% 하향", "20% 하향" 등의 구체적 지침이 주어집니다. 이를 따른 결과, Q2 잔반 발생량은 4.8톤으로 감소합니다. 이는 Q1 대비 약 34% 감축된 수치입니다.</a:t>
            </a:r>
            <a:br/>
            <a:br/>
            <a:r>
              <a:t>이렇게 줄어든 2.5톤의 식재료는 단순한 "버려지지 않은 음식"이 아닙니다. 애초에 구매하지 않아도 되는 비용을 절감하고, 조리 인력의 부담을 덜어주며, 음식물 처리 비용까지 절약할 수 있게 됩니다.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시뮬레이션 결과 (Q3~Q4)</a:t>
            </a:r>
          </a:p>
        </p:txBody>
      </p:sp>
      <p:sp>
        <p:nvSpPr>
          <p:cNvPr id="4" name="Rectangle 3"/>
          <p:cNvSpPr/>
          <p:nvPr/>
        </p:nvSpPr>
        <p:spPr>
          <a:xfrm>
            <a:off x="2743200" y="1828800"/>
            <a:ext cx="3657600" cy="2286000"/>
          </a:xfrm>
          <a:prstGeom prst="rect">
            <a:avLst/>
          </a:prstGeom>
          <a:solidFill>
            <a:srgbClr val="1976D2"/>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2286000"/>
            <a:ext cx="3657600" cy="1828800"/>
          </a:xfrm>
          <a:prstGeom prst="rect">
            <a:avLst/>
          </a:prstGeom>
          <a:noFill/>
        </p:spPr>
        <p:txBody>
          <a:bodyPr wrap="square">
            <a:spAutoFit/>
          </a:bodyPr>
          <a:lstStyle/>
          <a:p>
            <a:pPr algn="ctr">
              <a:defRPr sz="6000" b="1">
                <a:solidFill>
                  <a:srgbClr val="FFFFFF"/>
                </a:solidFill>
              </a:defRPr>
            </a:pPr>
            <a:r>
              <a:t>65%→85%</a:t>
            </a:r>
          </a:p>
        </p:txBody>
      </p:sp>
      <p:sp>
        <p:nvSpPr>
          <p:cNvPr id="6" name="TextBox 5"/>
          <p:cNvSpPr txBox="1"/>
          <p:nvPr/>
        </p:nvSpPr>
        <p:spPr>
          <a:xfrm>
            <a:off x="1828800" y="4297680"/>
            <a:ext cx="5486400" cy="457200"/>
          </a:xfrm>
          <a:prstGeom prst="rect">
            <a:avLst/>
          </a:prstGeom>
          <a:noFill/>
        </p:spPr>
        <p:txBody>
          <a:bodyPr wrap="none">
            <a:spAutoFit/>
          </a:bodyPr>
          <a:lstStyle/>
          <a:p>
            <a:pPr algn="ctr">
              <a:defRPr sz="2200">
                <a:solidFill>
                  <a:srgbClr val="2E7D32"/>
                </a:solidFill>
              </a:defRPr>
            </a:pPr>
            <a:r>
              <a:t>단계별 감축 | 최종 목표 달성</a:t>
            </a:r>
          </a:p>
        </p:txBody>
      </p:sp>
      <p:sp>
        <p:nvSpPr>
          <p:cNvPr id="7" name="TextBox 6"/>
          <p:cNvSpPr txBox="1"/>
          <p:nvPr/>
        </p:nvSpPr>
        <p:spPr>
          <a:xfrm>
            <a:off x="914400" y="5029200"/>
            <a:ext cx="7315200" cy="1371600"/>
          </a:xfrm>
          <a:prstGeom prst="rect">
            <a:avLst/>
          </a:prstGeom>
          <a:noFill/>
        </p:spPr>
        <p:txBody>
          <a:bodyPr wrap="square">
            <a:spAutoFit/>
          </a:bodyPr>
          <a:lstStyle/>
          <a:p>
            <a:pPr algn="ctr">
              <a:defRPr sz="1600">
                <a:solidFill>
                  <a:srgbClr val="212121"/>
                </a:solidFill>
              </a:defRPr>
            </a:pPr>
            <a:r>
              <a:t>Q3 65% 감축, Q4 최종 85% 감축 달성 및 시스템 안정화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시각화 대시보드: 탄소 저감 성과</a:t>
            </a:r>
          </a:p>
        </p:txBody>
      </p:sp>
      <p:sp>
        <p:nvSpPr>
          <p:cNvPr id="4" name="Rectangle 3"/>
          <p:cNvSpPr/>
          <p:nvPr/>
        </p:nvSpPr>
        <p:spPr>
          <a:xfrm>
            <a:off x="2743200" y="1828800"/>
            <a:ext cx="3657600" cy="2286000"/>
          </a:xfrm>
          <a:prstGeom prst="rect">
            <a:avLst/>
          </a:prstGeom>
          <a:solidFill>
            <a:srgbClr val="1976D2"/>
          </a:solidFill>
          <a:ln>
            <a:solidFill>
              <a:srgbClr val="1976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0" y="2286000"/>
            <a:ext cx="3657600" cy="1828800"/>
          </a:xfrm>
          <a:prstGeom prst="rect">
            <a:avLst/>
          </a:prstGeom>
          <a:noFill/>
        </p:spPr>
        <p:txBody>
          <a:bodyPr wrap="square">
            <a:spAutoFit/>
          </a:bodyPr>
          <a:lstStyle/>
          <a:p>
            <a:pPr algn="ctr">
              <a:defRPr sz="6000" b="1">
                <a:solidFill>
                  <a:srgbClr val="FFFFFF"/>
                </a:solidFill>
              </a:defRPr>
            </a:pPr>
            <a:r>
              <a:t>30.9톤</a:t>
            </a:r>
          </a:p>
        </p:txBody>
      </p:sp>
      <p:sp>
        <p:nvSpPr>
          <p:cNvPr id="6" name="TextBox 5"/>
          <p:cNvSpPr txBox="1"/>
          <p:nvPr/>
        </p:nvSpPr>
        <p:spPr>
          <a:xfrm>
            <a:off x="1828800" y="4297680"/>
            <a:ext cx="5486400" cy="457200"/>
          </a:xfrm>
          <a:prstGeom prst="rect">
            <a:avLst/>
          </a:prstGeom>
          <a:noFill/>
        </p:spPr>
        <p:txBody>
          <a:bodyPr wrap="none">
            <a:spAutoFit/>
          </a:bodyPr>
          <a:lstStyle/>
          <a:p>
            <a:pPr algn="ctr">
              <a:defRPr sz="2200">
                <a:solidFill>
                  <a:srgbClr val="2E7D32"/>
                </a:solidFill>
              </a:defRPr>
            </a:pPr>
            <a:r>
              <a:t>1년 누적 탄소 저감량 (CO2-eq)</a:t>
            </a:r>
          </a:p>
        </p:txBody>
      </p:sp>
      <p:sp>
        <p:nvSpPr>
          <p:cNvPr id="7" name="TextBox 6"/>
          <p:cNvSpPr txBox="1"/>
          <p:nvPr/>
        </p:nvSpPr>
        <p:spPr>
          <a:xfrm>
            <a:off x="914400" y="5029200"/>
            <a:ext cx="7315200" cy="1371600"/>
          </a:xfrm>
          <a:prstGeom prst="rect">
            <a:avLst/>
          </a:prstGeom>
          <a:noFill/>
        </p:spPr>
        <p:txBody>
          <a:bodyPr wrap="square">
            <a:spAutoFit/>
          </a:bodyPr>
          <a:lstStyle/>
          <a:p>
            <a:pPr algn="ctr">
              <a:defRPr sz="1600">
                <a:solidFill>
                  <a:srgbClr val="212121"/>
                </a:solidFill>
              </a:defRPr>
            </a:pPr>
            <a:r>
              <a:t>소나무 수백 그루를 심는 것과 동일한 환경적 기여도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경제적 효용성 분석</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AI-EcoTable의 환경적 가치는 실제로 경제적 이득으로 직결됩니다. 첫 번째 절감 포인트는 "구매 단계"입니다. 영양사가 정확한 조리량을 알지 못해 과잉 조리했던 식재료 구매 예산이 원천 차단됩니다. 예를 들어, 월 급식 예산 1,000만 원 중 약 20% (200만 원)가 결국 버려지는 식재료에 쓰인다면, 85% 감축을 통해 월 170만 원의 구매비 절감이 가능합니다.</a:t>
            </a:r>
            <a:br/>
            <a:br/>
            <a:r>
              <a:t>두 번째는 "처리 비용"입니다. 버려진 음식물 쓰레기를 음식물 처리 전문업체에 위탁하는 비용은 800명 규모 학교 기준 월 60~100만 원 수준입니다. 85% 감축으로 이 비용도 대폭 낮출 수 있습니다.</a:t>
            </a:r>
            <a:br/>
            <a:br/>
            <a:r>
              <a:t>이렇게 절감된 예산(월 200만 원 이상)은 "절감된 예산을 급식 단가 인상과 식재료 품질 향상에 재투자"하는 것을 정책 권장사항으로 제시합니다. 현재 많은 학교의 급식비는 학부모 부담이나 교육청 예산으로 충당되는데, 같은 예산으로 더 좋은 식재료를 제공할 수 있게 됩니다.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AI-EcoTable의 환경적 가치는 실제로 경제적 이득으로 직결됩니다. 첫 번째 절감 포인트는 "구매 단계"입니다. 영양사가 정확한 조리량을 알지 못해 과잉 조리했던 식재료 구매 예산이 원천 차단됩니다. 예를 들어, 월 급식 예산 1,000만 원 중 약 20% (200만 원)가 결국 버려지는 식재료에 쓰인다면, 85% 감축을 통해 월 170만 원의 구매비 절감이 가능합니다.</a:t>
            </a:r>
            <a:br/>
            <a:br/>
            <a:r>
              <a:t>두 번째는 "처리 비용"입니다. 버려진 음식물 쓰레기를 음식물 처리 전문업체에 위탁하는 비용은 800명 규모 학교 기준 월 60~100만 원 수준입니다. 85% 감축으로 이 비용도 대폭 낮출 수 있습니다.</a:t>
            </a:r>
            <a:br/>
            <a:br/>
            <a:r>
              <a:t>이렇게 절감된 예산(월 200만 원 이상)은 "절감된 예산을 급식 단가 인상과 식재료 품질 향상에 재투자"하는 것을 정책 권장사항으로 제시합니다. 현재 많은 학교의 급식비는 학부모 부담이나 교육청 예산으로 충당되는데, 같은 예산으로 더 좋은 식재료를 제공할 수 있게 됩니다.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AI-EcoTable의 환경적 가치는 실제로 경제적 이득으로 직결됩니다. 첫 번째 절감 포인트는 "구매 단계"입니다. 영양사가 정확한 조리량을 알지 못해 과잉 조리했던 식재료 구매 예산이 원천 차단됩니다. 예를 들어, 월 급식 예산 1,000만 원 중 약 20% (200만 원)가 결국 버려지는 식재료에 쓰인다면, 85% 감축을 통해 월 170만 원의 구매비 절감이 가능합니다.</a:t>
            </a:r>
            <a:br/>
            <a:br/>
            <a:r>
              <a:t>두 번째는 "처리 비용"입니다. 버려진 음식물 쓰레기를 음식물 처리 전문업체에 위탁하는 비용은 800명 규모 학교 기준 월 60~100만 원 수준입니다. 85% 감축으로 이 비용도 대폭 낮출 수 있습니다.</a:t>
            </a:r>
            <a:br/>
            <a:br/>
            <a:r>
              <a:t>이렇게 절감된 예산(월 200만 원 이상)은 "절감된 예산을 급식 단가 인상과 식재료 품질 향상에 재투자"하는 것을 정책 권장사항으로 제시합니다. 현재 많은 학교의 급식비는 학부모 부담이나 교육청 예산으로 충당되는데, 같은 예산으로 더 좋은 식재료를 제공할 수 있게 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영양사 맞춤형 AI-EcoTable 대시보드</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기술적으로 아무리 뛰어난 AI도, 실제 사용자인 영양사가 사용하기 편하지 않으면 의미가 없습니다. AI-EcoTable의 대시보드는 영양사의 기존 업무 흐름을 방해하지 않도록 설계되었습니다.</a:t>
            </a:r>
            <a:br/>
            <a:br/>
            <a:r>
              <a:t>영양사는 매일 아침 학교 PC 또는 태블릿에서 AI-EcoTable 앱에 접속합니다. 화면은 매우 직관적입니다. 오늘의 식단이 큼지막하게 표시되고, 각 메뉴 옆에 "평소 대비 조리량 조정률"이 % 수치로 나타납니다. "콩나물무침: -15%", "돈까스: -10%", "흰쌀밥: 정상" 같은 식입니다.</a:t>
            </a:r>
            <a:br/>
            <a:br/>
            <a:r>
              <a:t>추가로, 학교의 특수 상황(학예발표회, 수학여행, 학생 수 감소 등)을 입력하면 AI가 이를 반영하여 권장값을 조정합니다. 또한 "지난달 콩나물무침 잔반율 5%, 이번달 목표 3%"라는 식의 개인별 목표 추적 기능도 있어, 영양사의 동기부여를 높입니다.</a:t>
            </a:r>
            <a:br/>
            <a:br/>
            <a:r>
              <a:t>더 흥미로운 기능은 "모바일 그린 리포트"입니다. 매주 금요일마다, 영양사는 한 주간의 성과 요약을 학교장과 학부모에게 공유할 수 있습니다.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기술적으로 아무리 뛰어난 AI도, 실제 사용자인 영양사가 사용하기 편하지 않으면 의미가 없습니다. AI-EcoTable의 대시보드는 영양사의 기존 업무 흐름을 방해하지 않도록 설계되었습니다.</a:t>
            </a:r>
            <a:br/>
            <a:br/>
            <a:r>
              <a:t>영양사는 매일 아침 학교 PC 또는 태블릿에서 AI-EcoTable 앱에 접속합니다. 화면은 매우 직관적입니다. 오늘의 식단이 큼지막하게 표시되고, 각 메뉴 옆에 "평소 대비 조리량 조정률"이 % 수치로 나타납니다. "콩나물무침: -15%", "돈까스: -10%", "흰쌀밥: 정상" 같은 식입니다.</a:t>
            </a:r>
            <a:br/>
            <a:br/>
            <a:r>
              <a:t>추가로, 학교의 특수 상황(학예발표회, 수학여행, 학생 수 감소 등)을 입력하면 AI가 이를 반영하여 권장값을 조정합니다. 또한 "지난달 콩나물무침 잔반율 5%, 이번달 목표 3%"라는 식의 개인별 목표 추적 기능도 있어, 영양사의 동기부여를 높입니다.</a:t>
            </a:r>
            <a:br/>
            <a:br/>
            <a:r>
              <a:t>더 흥미로운 기능은 "모바일 그린 리포트"입니다. 매주 금요일마다, 영양사는 한 주간의 성과 요약을 학교장과 학부모에게 공유할 수 있습니다.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기술적으로 아무리 뛰어난 AI도, 실제 사용자인 영양사가 사용하기 편하지 않으면 의미가 없습니다. AI-EcoTable의 대시보드는 영양사의 기존 업무 흐름을 방해하지 않도록 설계되었습니다.</a:t>
            </a:r>
            <a:br/>
            <a:br/>
            <a:r>
              <a:t>영양사는 매일 아침 학교 PC 또는 태블릿에서 AI-EcoTable 앱에 접속합니다. 화면은 매우 직관적입니다. 오늘의 식단이 큼지막하게 표시되고, 각 메뉴 옆에 "평소 대비 조리량 조정률"이 % 수치로 나타납니다. "콩나물무침: -15%", "돈까스: -10%", "흰쌀밥: 정상" 같은 식입니다.</a:t>
            </a:r>
            <a:br/>
            <a:br/>
            <a:r>
              <a:t>추가로, 학교의 특수 상황(학예발표회, 수학여행, 학생 수 감소 등)을 입력하면 AI가 이를 반영하여 권장값을 조정합니다. 또한 "지난달 콩나물무침 잔반율 5%, 이번달 목표 3%"라는 식의 개인별 목표 추적 기능도 있어, 영양사의 동기부여를 높입니다.</a:t>
            </a:r>
            <a:br/>
            <a:br/>
            <a:r>
              <a:t>더 흥미로운 기능은 "모바일 그린 리포트"입니다. 매주 금요일마다, 영양사는 한 주간의 성과 요약을 학교장과 학부모에게 공유할 수 있습니다.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1097280"/>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8229600" cy="914400"/>
          </a:xfrm>
          <a:prstGeom prst="rect">
            <a:avLst/>
          </a:prstGeom>
          <a:noFill/>
        </p:spPr>
        <p:txBody>
          <a:bodyPr wrap="none">
            <a:spAutoFit/>
          </a:bodyPr>
          <a:lstStyle/>
          <a:p>
            <a:pPr>
              <a:defRPr sz="4000" b="1">
                <a:solidFill>
                  <a:srgbClr val="FFFFFF"/>
                </a:solidFill>
              </a:defRPr>
            </a:pPr>
            <a:r>
              <a:t>전국 확산 로드맵 및 정책 제언</a:t>
            </a:r>
          </a:p>
        </p:txBody>
      </p:sp>
      <p:sp>
        <p:nvSpPr>
          <p:cNvPr id="4" name="TextBox 3"/>
          <p:cNvSpPr txBox="1"/>
          <p:nvPr/>
        </p:nvSpPr>
        <p:spPr>
          <a:xfrm>
            <a:off x="640080" y="1371600"/>
            <a:ext cx="7863840" cy="640080"/>
          </a:xfrm>
          <a:prstGeom prst="rect">
            <a:avLst/>
          </a:prstGeom>
          <a:noFill/>
        </p:spPr>
        <p:txBody>
          <a:bodyPr wrap="square">
            <a:spAutoFit/>
          </a:bodyPr>
          <a:lstStyle/>
          <a:p>
            <a:pPr>
              <a:defRPr sz="1800">
                <a:solidFill>
                  <a:srgbClr val="212121"/>
                </a:solidFill>
              </a:defRPr>
            </a:pPr>
            <a:r>
              <a:t>AI-EcoTable이 진정한 가치를 발휘하는 순간은 정책으로 수립되어 전국에 확산될 때입니다. 확산의 장애물이 거의 없다는 점이 이 솔루션의 최대 강점입니다.</a:t>
            </a:r>
            <a:br/>
            <a:br/>
            <a:r>
              <a:t>첫째, 기술적 장애가 없습니다. 모든 학교가 이미 NEIS(나이스) 시스템에 연결되어 있고, 식단 정보를 실시간으로 입력하고 있습니다. 따라서 AI-EcoTable은 NEIS 표준 API만으로 모든 학교의 식단 데이터에 접근할 수 있습니다.</a:t>
            </a:r>
            <a:br/>
            <a:br/>
            <a:r>
              <a:t>둘째, 비용 장애가 없습니다. 소프트웨어 기반이므로 각 학교에서 하드웨어를 설치할 필요가 전혀 없습니다. 전국 12,000개 학교에 도입해도 인프라 비용은 0에 가깝습니다.</a:t>
            </a:r>
            <a:br/>
            <a:br/>
            <a:r>
              <a:t>셋째, 확산 저항이 적습니다. 영양사의 업무를 늘리지 않으면서, 오히려 업무 효율성을 높이는 도구이기 때문입니다.</a:t>
            </a:r>
            <a:br/>
            <a:br/>
            <a:r>
              <a:t>우리의 정책 제언은 다음과 같습니다: (1) 교육부가 AI-EcoTable을 NEIS 시스템 내에 통합하는 파일럿 프로젝트 추진 (1년, 전국 500개 학교 대상) → (2) 파일럿 성과 검증 (1년) → (3) 전국 확산 (2~3년). 동시에, "데이터 기반 탄소 중립 급식 지수"라는 정책 지표를 신설할 것을 제안합니다.</a:t>
            </a:r>
          </a:p>
        </p:txBody>
      </p:sp>
      <p:sp>
        <p:nvSpPr>
          <p:cNvPr id="5" name="TextBox 4"/>
          <p:cNvSpPr txBox="1"/>
          <p:nvPr/>
        </p:nvSpPr>
        <p:spPr>
          <a:xfrm>
            <a:off x="640080" y="2103120"/>
            <a:ext cx="7863840" cy="640080"/>
          </a:xfrm>
          <a:prstGeom prst="rect">
            <a:avLst/>
          </a:prstGeom>
          <a:noFill/>
        </p:spPr>
        <p:txBody>
          <a:bodyPr wrap="square">
            <a:spAutoFit/>
          </a:bodyPr>
          <a:lstStyle/>
          <a:p>
            <a:pPr>
              <a:defRPr sz="1800">
                <a:solidFill>
                  <a:srgbClr val="212121"/>
                </a:solidFill>
              </a:defRPr>
            </a:pPr>
            <a:r>
              <a:t>AI-EcoTable이 진정한 가치를 발휘하는 순간은 정책으로 수립되어 전국에 확산될 때입니다. 확산의 장애물이 거의 없다는 점이 이 솔루션의 최대 강점입니다.</a:t>
            </a:r>
            <a:br/>
            <a:br/>
            <a:r>
              <a:t>첫째, 기술적 장애가 없습니다. 모든 학교가 이미 NEIS(나이스) 시스템에 연결되어 있고, 식단 정보를 실시간으로 입력하고 있습니다. 따라서 AI-EcoTable은 NEIS 표준 API만으로 모든 학교의 식단 데이터에 접근할 수 있습니다.</a:t>
            </a:r>
            <a:br/>
            <a:br/>
            <a:r>
              <a:t>둘째, 비용 장애가 없습니다. 소프트웨어 기반이므로 각 학교에서 하드웨어를 설치할 필요가 전혀 없습니다. 전국 12,000개 학교에 도입해도 인프라 비용은 0에 가깝습니다.</a:t>
            </a:r>
            <a:br/>
            <a:br/>
            <a:r>
              <a:t>셋째, 확산 저항이 적습니다. 영양사의 업무를 늘리지 않으면서, 오히려 업무 효율성을 높이는 도구이기 때문입니다.</a:t>
            </a:r>
            <a:br/>
            <a:br/>
            <a:r>
              <a:t>우리의 정책 제언은 다음과 같습니다: (1) 교육부가 AI-EcoTable을 NEIS 시스템 내에 통합하는 파일럿 프로젝트 추진 (1년, 전국 500개 학교 대상) → (2) 파일럿 성과 검증 (1년) → (3) 전국 확산 (2~3년). 동시에, "데이터 기반 탄소 중립 급식 지수"라는 정책 지표를 신설할 것을 제안합니다.</a:t>
            </a:r>
          </a:p>
        </p:txBody>
      </p:sp>
      <p:sp>
        <p:nvSpPr>
          <p:cNvPr id="6" name="TextBox 5"/>
          <p:cNvSpPr txBox="1"/>
          <p:nvPr/>
        </p:nvSpPr>
        <p:spPr>
          <a:xfrm>
            <a:off x="640080" y="2834640"/>
            <a:ext cx="7863840" cy="640080"/>
          </a:xfrm>
          <a:prstGeom prst="rect">
            <a:avLst/>
          </a:prstGeom>
          <a:noFill/>
        </p:spPr>
        <p:txBody>
          <a:bodyPr wrap="square">
            <a:spAutoFit/>
          </a:bodyPr>
          <a:lstStyle/>
          <a:p>
            <a:pPr>
              <a:defRPr sz="1800">
                <a:solidFill>
                  <a:srgbClr val="212121"/>
                </a:solidFill>
              </a:defRPr>
            </a:pPr>
            <a:r>
              <a:t>AI-EcoTable이 진정한 가치를 발휘하는 순간은 정책으로 수립되어 전국에 확산될 때입니다. 확산의 장애물이 거의 없다는 점이 이 솔루션의 최대 강점입니다.</a:t>
            </a:r>
            <a:br/>
            <a:br/>
            <a:r>
              <a:t>첫째, 기술적 장애가 없습니다. 모든 학교가 이미 NEIS(나이스) 시스템에 연결되어 있고, 식단 정보를 실시간으로 입력하고 있습니다. 따라서 AI-EcoTable은 NEIS 표준 API만으로 모든 학교의 식단 데이터에 접근할 수 있습니다.</a:t>
            </a:r>
            <a:br/>
            <a:br/>
            <a:r>
              <a:t>둘째, 비용 장애가 없습니다. 소프트웨어 기반이므로 각 학교에서 하드웨어를 설치할 필요가 전혀 없습니다. 전국 12,000개 학교에 도입해도 인프라 비용은 0에 가깝습니다.</a:t>
            </a:r>
            <a:br/>
            <a:br/>
            <a:r>
              <a:t>셋째, 확산 저항이 적습니다. 영양사의 업무를 늘리지 않으면서, 오히려 업무 효율성을 높이는 도구이기 때문입니다.</a:t>
            </a:r>
            <a:br/>
            <a:br/>
            <a:r>
              <a:t>우리의 정책 제언은 다음과 같습니다: (1) 교육부가 AI-EcoTable을 NEIS 시스템 내에 통합하는 파일럿 프로젝트 추진 (1년, 전국 500개 학교 대상) → (2) 파일럿 성과 검증 (1년) → (3) 전국 확산 (2~3년). 동시에, "데이터 기반 탄소 중립 급식 지수"라는 정책 지표를 신설할 것을 제안합니다.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7D32"/>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데이터 과학으로 시작하는 탄소 중립 학교</a:t>
            </a:r>
          </a:p>
        </p:txBody>
      </p:sp>
      <p:sp>
        <p:nvSpPr>
          <p:cNvPr id="3" name="TextBox 2"/>
          <p:cNvSpPr txBox="1"/>
          <p:nvPr/>
        </p:nvSpPr>
        <p:spPr>
          <a:xfrm>
            <a:off x="457200" y="3840480"/>
            <a:ext cx="8229600" cy="1828800"/>
          </a:xfrm>
          <a:prstGeom prst="rect">
            <a:avLst/>
          </a:prstGeom>
          <a:noFill/>
        </p:spPr>
        <p:txBody>
          <a:bodyPr wrap="square">
            <a:spAutoFit/>
          </a:bodyPr>
          <a:lstStyle/>
          <a:p>
            <a:pPr algn="ctr">
              <a:defRPr sz="2400">
                <a:solidFill>
                  <a:srgbClr val="F1F8E9"/>
                </a:solidFill>
              </a:defRPr>
            </a:pPr>
            <a:r>
              <a:t>AI-EcoTable: 1년의 실증을 거친 완성형 데이터 기반 솔루션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