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E7D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AI-EcoTable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>
                <a:solidFill>
                  <a:srgbClr val="F1F8E9"/>
                </a:solidFill>
              </a:defRPr>
            </a:pPr>
            <a:r>
              <a:t>공공데이터와 AI를 활용한 학교 급식 잔반 예측 및 탄소 배출 저감 솔루션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2E7D32"/>
          </a:solidFill>
          <a:ln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주제선정 1: 급식의 그림자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7863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212121"/>
                </a:solidFill>
              </a:defRPr>
            </a:pPr>
            <a:r>
              <a:t>▪ 전국 학교급식 잔반 처리 비용 연간 약 524억 원 (2023년 기준)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103120"/>
            <a:ext cx="7863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212121"/>
                </a:solidFill>
              </a:defRPr>
            </a:pPr>
            <a:r>
              <a:t>▪ 온실가스 배출 및 환경 오염의 심각성 가중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834640"/>
            <a:ext cx="7863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212121"/>
                </a:solidFill>
              </a:defRPr>
            </a:pPr>
            <a:r>
              <a:t>▪ 남기지 않기 식의 사후 대책 및 캠페인은 이미 한계에 봉착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2E7D32"/>
          </a:solidFill>
          <a:ln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주제선정 2: 기존 해결책의 한계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7863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212121"/>
                </a:solidFill>
              </a:defRPr>
            </a:pPr>
            <a:r>
              <a:t>▪ 기존 AI 스캐너: 대당 수백만 원에 달하는 고가의 하드웨어 장비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103120"/>
            <a:ext cx="7863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212121"/>
                </a:solidFill>
              </a:defRPr>
            </a:pPr>
            <a:r>
              <a:t>▪ 전국 12,000개 학교 도입 시 천문학적 예산 필요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834640"/>
            <a:ext cx="7863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212121"/>
                </a:solidFill>
              </a:defRPr>
            </a:pPr>
            <a:r>
              <a:t>▪ 물리적 공간 제약 및 고장 시 유지보수 문제 발생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2E7D32"/>
          </a:solidFill>
          <a:ln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솔루션 개요: 데이터 중심의 접근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7863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212121"/>
                </a:solidFill>
              </a:defRPr>
            </a:pPr>
            <a:r>
              <a:t>▪ 버려진 후 처리하는 것이 아닌, 버려지기 전 예측하여 덜 조리하는 사전 차단 방식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103120"/>
            <a:ext cx="7863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212121"/>
                </a:solidFill>
              </a:defRPr>
            </a:pPr>
            <a:r>
              <a:t>▪ 별도의 기기 설치 없이 기존 영양사 PC에서 웹/앱으로 바로 구동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834640"/>
            <a:ext cx="7863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212121"/>
                </a:solidFill>
              </a:defRPr>
            </a:pPr>
            <a:r>
              <a:t>▪ 교육부 공공데이터 API를 실시간으로 받아 AI가 분석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2E7D32"/>
          </a:solidFill>
          <a:ln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목표 설정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0" y="1828800"/>
            <a:ext cx="3657600" cy="2286000"/>
          </a:xfrm>
          <a:prstGeom prst="rect">
            <a:avLst/>
          </a:prstGeom>
          <a:solidFill>
            <a:srgbClr val="1976D2"/>
          </a:solidFill>
          <a:ln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0" y="2286000"/>
            <a:ext cx="3657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0" b="1">
                <a:solidFill>
                  <a:srgbClr val="FFFFFF"/>
                </a:solidFill>
              </a:defRPr>
            </a:pPr>
            <a:r>
              <a:t>85%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429768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>
                <a:solidFill>
                  <a:srgbClr val="2E7D32"/>
                </a:solidFill>
              </a:defRPr>
            </a:pPr>
            <a:r>
              <a:t>잔반 감축 | 30톤 탄소 저감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029200"/>
            <a:ext cx="7315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>
                <a:solidFill>
                  <a:srgbClr val="212121"/>
                </a:solidFill>
              </a:defRPr>
            </a:pPr>
            <a:r>
              <a:t>1년 단위 실증을 통한 정량적 환경 목표 달성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2E7D32"/>
          </a:solidFill>
          <a:ln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데이터 수집 1: 나이스(NEIS) 식단 정보 API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7863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212121"/>
                </a:solidFill>
              </a:defRPr>
            </a:pPr>
            <a:r>
              <a:t>▪ 나이스 교육정보 개방포털의 급식 식단 API 연동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103120"/>
            <a:ext cx="7863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212121"/>
                </a:solidFill>
              </a:defRPr>
            </a:pPr>
            <a:r>
              <a:t>▪ 날짜, 학교별 식단명 및 알레르기 유발 식재료 정보 실시간 수집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834640"/>
            <a:ext cx="7863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212121"/>
                </a:solidFill>
              </a:defRPr>
            </a:pPr>
            <a:r>
              <a:t>▪ 특정 지역에 국한되지 않는 완벽한 범용성 확보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2E7D32"/>
          </a:solidFill>
          <a:ln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데이터 수집 2: 국가 LCI 데이터베이스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7863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212121"/>
                </a:solidFill>
              </a:defRPr>
            </a:pPr>
            <a:r>
              <a:t>▪ 환경부 국가 LCI(생애주기) 데이터베이스 활용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103120"/>
            <a:ext cx="7863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212121"/>
                </a:solidFill>
              </a:defRPr>
            </a:pPr>
            <a:r>
              <a:t>▪ 쌀, 소고기, 채소류 등 주요 식재료별 탄소 배출 계수 적용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834640"/>
            <a:ext cx="7863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212121"/>
                </a:solidFill>
              </a:defRPr>
            </a:pPr>
            <a:r>
              <a:t>▪ 감축된 식재료량 × LCI 탄소 계수 = 탄소 저감 성과 도출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2E7D32"/>
          </a:solidFill>
          <a:ln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가공 알고리즘: 1년(4분기) 피드백 루프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7863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212121"/>
                </a:solidFill>
              </a:defRPr>
            </a:pPr>
            <a:r>
              <a:t>▪ Q1: 기준점 도출 (가장 많이 버려지는 메뉴 식별, Baseline 설정)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103120"/>
            <a:ext cx="7863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212121"/>
                </a:solidFill>
              </a:defRPr>
            </a:pPr>
            <a:r>
              <a:t>▪ Q2: 1차 하향 적용 (분석 결과 기반 선제적 조리량 35% 감소 지시)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834640"/>
            <a:ext cx="7863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212121"/>
                </a:solidFill>
              </a:defRPr>
            </a:pPr>
            <a:r>
              <a:t>▪ Q3: 피드백 및 정교화 (소비 패턴 학습으로 65% 감축 가속화)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566160"/>
            <a:ext cx="7863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212121"/>
                </a:solidFill>
              </a:defRPr>
            </a:pPr>
            <a:r>
              <a:t>▪ Q4: 최적화 안정기 (잉여 잔반 최소화 상태 85% 도달)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2E7D32"/>
          </a:solidFill>
          <a:ln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시뮬레이션 결과 (Q1~Q2)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7863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212121"/>
                </a:solidFill>
              </a:defRPr>
            </a:pPr>
            <a:r>
              <a:t>▪ Q1 기준점: 3개월간 약 7.3톤의 잔반 발생 (채소류 55%, 국류 40% 낭비)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103120"/>
            <a:ext cx="7863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212121"/>
                </a:solidFill>
              </a:defRPr>
            </a:pPr>
            <a:r>
              <a:t>▪ Q2 성과: AI 가이드에 따라 조리량을 낮춤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834640"/>
            <a:ext cx="7863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212121"/>
                </a:solidFill>
              </a:defRPr>
            </a:pPr>
            <a:r>
              <a:t>▪ Q2 감축: 잔반 발생량 4.8톤으로 하락 → 약 2.5톤의 식재료 낭비 방지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2E7D32"/>
          </a:solidFill>
          <a:ln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시뮬레이션 결과 (Q3~Q4)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0" y="1828800"/>
            <a:ext cx="3657600" cy="2286000"/>
          </a:xfrm>
          <a:prstGeom prst="rect">
            <a:avLst/>
          </a:prstGeom>
          <a:solidFill>
            <a:srgbClr val="1976D2"/>
          </a:solidFill>
          <a:ln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0" y="2286000"/>
            <a:ext cx="3657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0" b="1">
                <a:solidFill>
                  <a:srgbClr val="FFFFFF"/>
                </a:solidFill>
              </a:defRPr>
            </a:pPr>
            <a:r>
              <a:t>65%→85%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429768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>
                <a:solidFill>
                  <a:srgbClr val="2E7D32"/>
                </a:solidFill>
              </a:defRPr>
            </a:pPr>
            <a:r>
              <a:t>단계별 감축 | 최종 목표 달성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029200"/>
            <a:ext cx="7315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>
                <a:solidFill>
                  <a:srgbClr val="212121"/>
                </a:solidFill>
              </a:defRPr>
            </a:pPr>
            <a:r>
              <a:t>Q3 65% 감축, Q4 최종 85% 감축 달성 및 시스템 안정화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2E7D32"/>
          </a:solidFill>
          <a:ln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시각화 대시보드: 탄소 저감 성과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0" y="1828800"/>
            <a:ext cx="3657600" cy="2286000"/>
          </a:xfrm>
          <a:prstGeom prst="rect">
            <a:avLst/>
          </a:prstGeom>
          <a:solidFill>
            <a:srgbClr val="1976D2"/>
          </a:solidFill>
          <a:ln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0" y="2286000"/>
            <a:ext cx="3657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0" b="1">
                <a:solidFill>
                  <a:srgbClr val="FFFFFF"/>
                </a:solidFill>
              </a:defRPr>
            </a:pPr>
            <a:r>
              <a:t>30.9톤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429768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>
                <a:solidFill>
                  <a:srgbClr val="2E7D32"/>
                </a:solidFill>
              </a:defRPr>
            </a:pPr>
            <a:r>
              <a:t>1년 누적 탄소 저감량 (CO2-eq)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029200"/>
            <a:ext cx="7315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>
                <a:solidFill>
                  <a:srgbClr val="212121"/>
                </a:solidFill>
              </a:defRPr>
            </a:pPr>
            <a:r>
              <a:t>소나무 수백 그루를 심는 것과 동일한 환경적 기여도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2E7D32"/>
          </a:solidFill>
          <a:ln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경제적 효용성 분석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7863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212121"/>
                </a:solidFill>
              </a:defRPr>
            </a:pPr>
            <a:r>
              <a:t>▪ 버려지는 식재료 구매 비용 원천 차단 (예산 누수 방지)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103120"/>
            <a:ext cx="7863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212121"/>
                </a:solidFill>
              </a:defRPr>
            </a:pPr>
            <a:r>
              <a:t>▪ 음식물 쓰레기 위탁 처리 비용 급감 (월 평균 수십만 원 절약)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834640"/>
            <a:ext cx="7863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212121"/>
                </a:solidFill>
              </a:defRPr>
            </a:pPr>
            <a:r>
              <a:t>▪ 절감된 예산은 급식 단가 인상 및 고품질 식재료 구매에 재투자 가능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2E7D32"/>
          </a:solidFill>
          <a:ln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영양사 맞춤형 AI-EcoTable 대시보드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7863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212121"/>
                </a:solidFill>
              </a:defRPr>
            </a:pPr>
            <a:r>
              <a:t>▪ 기존 업무를 방해하지 않는 직관적인 UI/UX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103120"/>
            <a:ext cx="7863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212121"/>
                </a:solidFill>
              </a:defRPr>
            </a:pPr>
            <a:r>
              <a:t>▪ "오늘 채소류 콩나물무침은 평소 대비 35% 하향 조리를 권장합니다" 실시간 알림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834640"/>
            <a:ext cx="7863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212121"/>
                </a:solidFill>
              </a:defRPr>
            </a:pPr>
            <a:r>
              <a:t>▪ 모바일 그린 리포트 기능을 통해 학교장 및 학부모에게 성과 공유 용이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2E7D32"/>
          </a:solidFill>
          <a:ln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전국 확산 로드맵 및 정책 제언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7863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212121"/>
                </a:solidFill>
              </a:defRPr>
            </a:pPr>
            <a:r>
              <a:t>▪ 전국 확산성: 나이스(NEIS) 표준 개방 데이터로 모든 학교에 즉시 연동 가능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103120"/>
            <a:ext cx="7863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212121"/>
                </a:solidFill>
              </a:defRPr>
            </a:pPr>
            <a:r>
              <a:t>▪ 비용 효율성: 인프라 설치 비용 Zero (소프트웨어 방식)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834640"/>
            <a:ext cx="7863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212121"/>
                </a:solidFill>
              </a:defRPr>
            </a:pPr>
            <a:r>
              <a:t>▪ 정책 제언: 교육부 차원의 "데이터 기반 탄소 중립 급식 지수" 신설 제안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E7D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데이터 과학으로 시작하는 탄소 중립 학교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>
                <a:solidFill>
                  <a:srgbClr val="F1F8E9"/>
                </a:solidFill>
              </a:defRPr>
            </a:pPr>
            <a:r>
              <a:t>AI-EcoTable: 1년의 실증을 거친 완성형 데이터 기반 솔루션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