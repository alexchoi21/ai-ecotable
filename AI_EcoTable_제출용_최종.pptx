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fonts/font_reg.fntdata" ContentType="application/x-fontdata"/>
  <Override PartName="/ppt/fonts/font_bold.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NanumGothic" panose="020B0602030504020204" pitchFamily="34" charset="-128"/>
      <p:regular r:id="rId_NanumReg"/>
    </p:embeddedFont>
    <p:embeddedFont>
      <p:font typeface="NanumGothic" panose="020B0602030504020204" pitchFamily="34" charset="-128"/>
      <p:bold r:id="rId_NanumBold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_NanumReg"  Type="http://schemas.openxmlformats.org/officeDocument/2006/relationships/font" Target="fonts/font_reg.fntdata"/>
  <Relationship Id="rId_NanumBold" Type="http://schemas.openxmlformats.org/officeDocument/2006/relationships/font" Target="fonts/font_bold.fntdata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731520"/>
            <a:ext cx="2926080" cy="36576"/>
          </a:xfrm>
          <a:prstGeom prst="rect">
            <a:avLst/>
          </a:prstGeom>
          <a:solidFill>
            <a:srgbClr val="A5D6A7">
              <a:alpha val="40000"/>
            </a:srgbClr>
          </a:solidFill>
          <a:ln w="12700">
            <a:solidFill>
              <a:srgbClr val="A5D6A7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554480"/>
            <a:ext cx="2926080" cy="36576"/>
          </a:xfrm>
          <a:prstGeom prst="rect">
            <a:avLst/>
          </a:prstGeom>
          <a:solidFill>
            <a:srgbClr val="A5D6A7">
              <a:alpha val="40000"/>
            </a:srgbClr>
          </a:solidFill>
          <a:ln w="12700">
            <a:solidFill>
              <a:srgbClr val="A5D6A7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2377440"/>
            <a:ext cx="2926080" cy="36576"/>
          </a:xfrm>
          <a:prstGeom prst="rect">
            <a:avLst/>
          </a:prstGeom>
          <a:solidFill>
            <a:srgbClr val="A5D6A7">
              <a:alpha val="40000"/>
            </a:srgbClr>
          </a:solidFill>
          <a:ln w="12700">
            <a:solidFill>
              <a:srgbClr val="A5D6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3200400"/>
            <a:ext cx="2926080" cy="36576"/>
          </a:xfrm>
          <a:prstGeom prst="rect">
            <a:avLst/>
          </a:prstGeom>
          <a:solidFill>
            <a:srgbClr val="A5D6A7">
              <a:alpha val="40000"/>
            </a:srgbClr>
          </a:solidFill>
          <a:ln w="12700">
            <a:solidFill>
              <a:srgbClr val="A5D6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023360"/>
            <a:ext cx="2926080" cy="36576"/>
          </a:xfrm>
          <a:prstGeom prst="rect">
            <a:avLst/>
          </a:prstGeom>
          <a:solidFill>
            <a:srgbClr val="A5D6A7">
              <a:alpha val="40000"/>
            </a:srgbClr>
          </a:solidFill>
          <a:ln w="12700">
            <a:solidFill>
              <a:srgbClr val="A5D6A7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D6A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Edge-AI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A5D6A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Station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2926080"/>
            <a:ext cx="1188720" cy="1188720"/>
          </a:xfrm>
          <a:prstGeom prst="ellipse">
            <a:avLst/>
          </a:prstGeom>
          <a:solidFill>
            <a:srgbClr val="43A047">
              <a:alpha val="30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9718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NPU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548640"/>
            <a:ext cx="5532120" cy="4069080"/>
          </a:xfrm>
          <a:prstGeom prst="roundRect">
            <a:avLst>
              <a:gd name="adj" fmla="val 3371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254000" dist="635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822960"/>
            <a:ext cx="4754880" cy="347472"/>
          </a:xfrm>
          <a:prstGeom prst="roundRect">
            <a:avLst>
              <a:gd name="adj" fmla="val 21053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8229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제8회 교육 공공데이터 AI 활용대회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298448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버려지는 식판에서 찾은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66160" y="1755648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학교 급식의 '지속 가능한 내일'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66160" y="2487168"/>
            <a:ext cx="5166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나이스(NEIS) 급식 API와 Edge-AI 하드웨어가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만드는 탄소 중립 학교 급식실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3246120"/>
            <a:ext cx="5029200" cy="0"/>
          </a:xfrm>
          <a:prstGeom prst="line">
            <a:avLst/>
          </a:prstGeom>
          <a:noFill/>
          <a:ln w="1905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4015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참가자 성명: Alex  /  팀명: ChoiGPT Corp.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822192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Vision AI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53712" y="3822192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ESG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541264" y="3822192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41264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NEIS API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28816" y="3822192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Edge-AI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516368" y="3822192"/>
            <a:ext cx="914400" cy="237744"/>
          </a:xfrm>
          <a:prstGeom prst="roundRect">
            <a:avLst>
              <a:gd name="adj" fmla="val 30769"/>
            </a:avLst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16368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탄소 중립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/ 15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3E2723"/>
          </a:solidFill>
          <a:ln w="12700">
            <a:solidFill>
              <a:srgbClr val="3E27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FEBE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 매일 쌓이는 잔반 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228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매일 쌓이는 잔반,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학생들의 편식 때문만일까요?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0" y="14173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연간 2,000억 원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114800" y="2212848"/>
            <a:ext cx="47091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0" y="2212848"/>
            <a:ext cx="91440" cy="11155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5968" y="2304288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전국 학교 음식물 쓰레기 처리 비용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연간 약 2,000억 원 추산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3474720"/>
            <a:ext cx="47091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3474720"/>
            <a:ext cx="91440" cy="11155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3566160"/>
            <a:ext cx="4370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영양사 선생님의 딜레마: 데이터 없는 경험 의존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조리 → 과다 조리 → 막대한 세금 낭비 및 탄소 배출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공공데이터, AI, 그리고 하드웨어의 완벽한 융합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2743200" cy="228600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508760"/>
            <a:ext cx="2743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2050 탄소중립 실천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학교의 요구에 부응하는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완벽한 에코-디지털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전환(DX) 솔루션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7160" y="14630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나이스(NEIS)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공공데이터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1762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매일 쌓이는 전국 학교의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식단 및 영양 정보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6276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수요 및 선호도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예측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21762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메뉴-잔반 간의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상관관계 정밀 분석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3913632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407822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잔반 측정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Edge-AI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462686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학교 환경에 최적화된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Alex 전용 설계 보드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2194560"/>
            <a:ext cx="347472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194560"/>
            <a:ext cx="347472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730752"/>
            <a:ext cx="0" cy="201168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공공데이터, 텍스트 마이닝을 만나 인사이트가 되다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207008"/>
            <a:ext cx="914400" cy="804672"/>
          </a:xfrm>
          <a:prstGeom prst="roundRect">
            <a:avLst>
              <a:gd name="adj" fmla="val 11364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207008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DB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NEIS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전국 학교 식단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영양 / 알레르기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수집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2103120"/>
            <a:ext cx="502920" cy="502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0128" y="1051560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24528" y="1207008"/>
            <a:ext cx="914400" cy="804672"/>
          </a:xfrm>
          <a:prstGeom prst="roundRect">
            <a:avLst>
              <a:gd name="adj" fmla="val 11364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1207008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文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01568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Text Mining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01568" y="24871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형태소 분석을 통한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메뉴 분해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(예: 비빔밥)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53328" y="2103120"/>
            <a:ext cx="502920" cy="5029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254496" y="1051560"/>
            <a:ext cx="27432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68896" y="1207008"/>
            <a:ext cx="914400" cy="804672"/>
          </a:xfrm>
          <a:prstGeom prst="roundRect">
            <a:avLst>
              <a:gd name="adj" fmla="val 11364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68896" y="1207008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45936" y="21214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Categorization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24871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다차원 분류 태깅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(메인 단백질 식재료, 채소 비중,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조리 방식: 무침/볶음 등)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30752"/>
            <a:ext cx="841248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49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!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377647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단순히 '비빔밥'이 아닌 '나물이 많이 들어간 비빔밥'일 때 학생들의 잔반율이 어떻게 변하는지 추적합니다.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식재료가 탄소 발자국으로 치환되는 순간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3891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소고기 1kg = 27kg CO2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840480" cy="47548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소고기 1kg  →  27 kg CO₂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12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닭고기 1kg = 6.9kg CO2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987552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243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닭고기  →  6.9 kg CO₂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채소류 1kg = 0.9kg CO2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47872"/>
            <a:ext cx="128016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5661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채소  →  0.9 kg CO₂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3480" y="1051560"/>
            <a:ext cx="384048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6636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잔반 100g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32120" y="178308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ECEF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 식판 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816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=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989320" y="3291840"/>
            <a:ext cx="731520" cy="8686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3101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소나무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0.5그루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8412480" cy="320040"/>
          </a:xfrm>
          <a:prstGeom prst="roundRect">
            <a:avLst>
              <a:gd name="adj" fmla="val 14286"/>
            </a:avLst>
          </a:prstGeom>
          <a:solidFill>
            <a:srgbClr val="F1F8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99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한국환경산업기술원 환경성적표지 LCI DB 활용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끊임없이 최적화되는 3단계 순환 아키텍처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(Edu-Antigravity 엔진)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8595360" cy="3127248"/>
          </a:xfrm>
          <a:prstGeom prst="roundRect">
            <a:avLst>
              <a:gd name="adj" fmla="val 5848"/>
            </a:avLst>
          </a:prstGeom>
          <a:solidFill>
            <a:srgbClr val="F1F8F1"/>
          </a:solidFill>
          <a:ln w="19050">
            <a:solidFill>
              <a:srgbClr val="A5D6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724912" cy="272491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2724912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9616" y="1572768"/>
            <a:ext cx="731520" cy="7315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9616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6072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Pre-Lunch (급식 전)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" y="27889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나이스 API 식단 수집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" y="3063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AI 예상 잔반율 계산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조리량 가이드 제시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27832" y="2633472"/>
            <a:ext cx="201168" cy="0"/>
          </a:xfrm>
          <a:prstGeom prst="rect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54203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10712" y="1417320"/>
            <a:ext cx="2724912" cy="272491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0712" y="1417320"/>
            <a:ext cx="2724912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07408" y="1572768"/>
            <a:ext cx="731520" cy="7315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◎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83864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During-Lunch (급식 중)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27889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퇴식구 Edge-AI Station 스캔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20440" y="3063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YOLO 모델 잔반량 0.1g 단위 추정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20440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학생용 모니터 실시간 에코 피드백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35624" y="2633472"/>
            <a:ext cx="201168" cy="0"/>
          </a:xfrm>
          <a:prstGeom prst="rect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254203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309360" y="1417320"/>
            <a:ext cx="2724912" cy="2724912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417320"/>
            <a:ext cx="2724912" cy="7315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06056" y="1572768"/>
            <a:ext cx="731520" cy="7315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06056" y="15727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↑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82512" y="2377440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Post-Lunch (급식 후)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19088" y="278892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탄소 저감 성과 리포트 발행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19088" y="306324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→ 중앙 서버 익명화 데이터 전송 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19088" y="33375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예측 모델 고도화 학습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4224528"/>
            <a:ext cx="299923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519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"오늘 제육볶음은 평소보다 5% 축소 조리를 권장합니다"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책상 위 AI가 아닌, 식당 안 AI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(급식실 전용 하드웨어 설계)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0D1B0D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4475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44475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44475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44475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4767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94767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94767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94767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45059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45059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245059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245059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5351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95351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295351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953512"/>
            <a:ext cx="685800" cy="320040"/>
          </a:xfrm>
          <a:prstGeom prst="rect">
            <a:avLst/>
          </a:prstGeom>
          <a:solidFill>
            <a:srgbClr val="E65100">
              <a:alpha val="80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45643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0" y="345643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40280" y="345643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3456432"/>
            <a:ext cx="685800" cy="320040"/>
          </a:xfrm>
          <a:prstGeom prst="rect">
            <a:avLst/>
          </a:prstGeom>
          <a:solidFill>
            <a:srgbClr val="2E7D32">
              <a:alpha val="80000"/>
            </a:srgbClr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95935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395935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395935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3959352"/>
            <a:ext cx="685800" cy="320040"/>
          </a:xfrm>
          <a:prstGeom prst="rect">
            <a:avLst/>
          </a:prstGeom>
          <a:solidFill>
            <a:srgbClr val="01579B">
              <a:alpha val="80000"/>
            </a:srgbClr>
          </a:solidFill>
          <a:ln w="6350">
            <a:solidFill>
              <a:srgbClr val="01579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434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CC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Custom PCB Design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CC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KiCad / Altium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261872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1353312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CPU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76672" y="137160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Control Unit: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76672" y="1682496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NXP i.MX 8M Plus / ESP32-S3 기반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고효율 AI 가속기(NPU) 내장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56032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73168" y="2651760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CAM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376672" y="267004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Vision Sensor: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76672" y="2980944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OAK-D-Lite 탑재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(고해상도 Depth 카메라로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입체적 부피 측정)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858768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73168" y="3950208"/>
            <a:ext cx="502920" cy="502920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IP67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376672" y="3968496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School-Proof Design: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76672" y="4279392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IP67 방수/방진, 전원 노이즈 필터링,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급식실 특유의 가혹한 고온/다습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환경 완벽 대응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밥, 국, 반찬을 분리하는 정밀한 시선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2633472"/>
          </a:xfrm>
          <a:prstGeom prst="roundRect">
            <a:avLst>
              <a:gd name="adj" fmla="val 2778"/>
            </a:avLst>
          </a:prstGeom>
          <a:solidFill>
            <a:srgbClr val="F5F0EB"/>
          </a:solidFill>
          <a:ln w="12700">
            <a:solidFill>
              <a:srgbClr val="D5C5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298448"/>
            <a:ext cx="2103120" cy="1417320"/>
          </a:xfrm>
          <a:prstGeom prst="rect">
            <a:avLst/>
          </a:prstGeom>
          <a:solidFill>
            <a:srgbClr val="F8F8EC"/>
          </a:solidFill>
          <a:ln w="317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335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[Rice : 98%]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37560" y="1298448"/>
            <a:ext cx="2103120" cy="658368"/>
          </a:xfrm>
          <a:prstGeom prst="rect">
            <a:avLst/>
          </a:prstGeom>
          <a:solidFill>
            <a:srgbClr val="FFF8E1"/>
          </a:solidFill>
          <a:ln w="31750">
            <a:solidFill>
              <a:srgbClr val="F57F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3350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7F1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[Side_Dish : 89%]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057400"/>
            <a:ext cx="2103120" cy="658368"/>
          </a:xfrm>
          <a:prstGeom prst="rect">
            <a:avLst/>
          </a:prstGeom>
          <a:solidFill>
            <a:srgbClr val="E3F2FD"/>
          </a:solidFill>
          <a:ln w="3175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093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[Soup : 95%]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298448"/>
            <a:ext cx="2331720" cy="1417320"/>
          </a:xfrm>
          <a:prstGeom prst="rect">
            <a:avLst/>
          </a:prstGeom>
          <a:solidFill>
            <a:srgbClr val="FBE9E7"/>
          </a:solidFill>
          <a:ln w="3175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335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[Kimchi : 91%]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822192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858768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5876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DB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08760" y="38679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실제 학교급식 데이터셋 기반 오픈소스 모델 Fine-tuning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334256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34256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0.5s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508760" y="4343400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클라우드 지연 없는 0.5초 이내 로컬 엣지(Edge) 추론 완료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영양사 선생님의 행정 업무를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70% 줄이는 마법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606040" y="1207008"/>
            <a:ext cx="379476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606040" y="1207008"/>
            <a:ext cx="3794760" cy="347472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| 영양 업무     식당 당일     식재료 현황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977640" y="1719072"/>
            <a:ext cx="1554480" cy="15544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78308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70%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감축 완료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3401568"/>
            <a:ext cx="3611880" cy="749808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4381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업무 유형 / 담당 / 처리시간 / 자동여부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2029968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1490472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저감 목표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120% 달성!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1417320"/>
            <a:ext cx="217627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49047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생성된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엑셀 리포트 다운로드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2834640"/>
            <a:ext cx="2176272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2907792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데이터가 찾은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최적의 에코 식단 교집합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663440"/>
            <a:ext cx="8595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과다 발주 방지를 통한 식재료비 절감액 실시간 트래킹 기능 제공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밥 먹는 시간이 '환경 보호 실천'이 되는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게이미피케이션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89888"/>
            <a:ext cx="2377440" cy="2084832"/>
          </a:xfrm>
          <a:prstGeom prst="roundRect">
            <a:avLst>
              <a:gd name="adj" fmla="val 3509"/>
            </a:avLst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23774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 깨끗한 식판 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체크 완료!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858768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9136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잔반 제로 달성 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실시간 '에코 포인트' 적립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0712" y="12344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7872" y="1389888"/>
            <a:ext cx="2377440" cy="2084832"/>
          </a:xfrm>
          <a:prstGeom prst="roundRect">
            <a:avLst>
              <a:gd name="adj" fmla="val 3509"/>
            </a:avLst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7872" y="1463040"/>
            <a:ext cx="23774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+100 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Congratulations!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3858768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39136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수집한 포인트로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'나만의 숲(에코 캐릭터)' 가꾸기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389888"/>
            <a:ext cx="2377440" cy="2084832"/>
          </a:xfrm>
          <a:prstGeom prst="roundRect">
            <a:avLst>
              <a:gd name="adj" fmla="val 3509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63040"/>
            <a:ext cx="23774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Level 10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Level 22 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58768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913632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단순한 식사가 아닌,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데이터를 직접 확인하고 실천하는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살아있는 환경 교육의 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학생의 데이터는 학교 밖으로 나가지 않습니다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1325880"/>
            <a:ext cx="2194560" cy="2194560"/>
          </a:xfrm>
          <a:prstGeom prst="ellipse">
            <a:avLst/>
          </a:prstGeom>
          <a:solidFill>
            <a:srgbClr val="1A4731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50876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SHIELD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[보안]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01752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81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Edge Inference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(로컬 처리)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식판 위 얼굴 비식별화 즉시 적용.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잔반 부피 분석 완료 후 영상/이미지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데이터는 엣지 서버 내에서 즉시 영구 파기.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301752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1481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DePIN 연계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(탈중앙화 인프라)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2148840"/>
            <a:ext cx="27432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Aethir 등 탈중앙화 연산 자원을 연계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활용하여 학교 측의 초기 서버 구축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비용 최소화 및 외부 해킹으로부터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보안성 극대화.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409651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1F8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13308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개인정보보호법(PIPA) 완전 준수  •  국가 사이버보안 가이드라인 준수  •  학생 데이터 외부 전송 Zero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할 수 있다가 아니라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데이터로 확인했다 (PoC 시뮬레이션)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898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주간 탄소 배출 시뮬레이션 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71323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8653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52728" y="1828800"/>
            <a:ext cx="13258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8653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식단 유형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1828800"/>
            <a:ext cx="217627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86537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탄소 배출량 (kg CO2e)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3803904" cy="365760"/>
          </a:xfrm>
          <a:prstGeom prst="rect">
            <a:avLst/>
          </a:prstGeom>
          <a:solidFill>
            <a:srgbClr val="F9F9F9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585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월요일 (Mon)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258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일반식 (Regular)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22585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1.50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38039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66090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화요일 (Tue)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660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일반식 (Regular)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66090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1.45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3803904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632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수요일 (Wed)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에코 데이 (Eco Day)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306324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0.53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419856"/>
            <a:ext cx="380390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4655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목요일 (Thu)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34655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일반식 (Regular)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3465576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1.48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3822192"/>
            <a:ext cx="3803904" cy="365760"/>
          </a:xfrm>
          <a:prstGeom prst="rect">
            <a:avLst/>
          </a:prstGeom>
          <a:solidFill>
            <a:srgbClr val="F9F9F9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8679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금요일 (Fri)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3867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일반식 (Regular)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651760" y="386791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1.52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1261872"/>
            <a:ext cx="37033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120640" y="1261872"/>
            <a:ext cx="3703320" cy="731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1389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A0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64.5%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720840" y="1554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A047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30368" y="18745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 1회 에코 데이(채식) 운영 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일일 탄소 배출량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2404872"/>
            <a:ext cx="37033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20640" y="2404872"/>
            <a:ext cx="3703320" cy="7315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0368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76D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25%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720840" y="2697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76D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감축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0368" y="30175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정밀 수요 예측을 통한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연간 음식물 쓰레기 발생량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20640" y="3547872"/>
            <a:ext cx="37033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20640" y="3547872"/>
            <a:ext cx="3703320" cy="7315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3675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1,200만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6720840" y="3840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30368" y="4160520"/>
            <a:ext cx="3401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서울중앙고 샘플 기준, 학교당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연간 예산 절감 가능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단순한 시스템을 넘어선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K-스마트 급식의 표준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2743200" cy="331012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444752"/>
            <a:ext cx="841248" cy="841248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4447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(디지털 시민 양성)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108960"/>
            <a:ext cx="2468880" cy="0"/>
          </a:xfrm>
          <a:prstGeom prst="line">
            <a:avLst/>
          </a:prstGeom>
          <a:noFill/>
          <a:ln w="10160">
            <a:solidFill>
              <a:srgbClr val="A5D6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 기반의 객관적 환경 감수성을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지닌 미래 세대 육성.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743200" cy="331012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444752"/>
            <a:ext cx="841248" cy="841248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4447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⊕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Policy Integration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761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(정책의 현실화)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108960"/>
            <a:ext cx="2468880" cy="0"/>
          </a:xfrm>
          <a:prstGeom prst="line">
            <a:avLst/>
          </a:prstGeom>
          <a:noFill/>
          <a:ln w="10160">
            <a:solidFill>
              <a:srgbClr val="A5D6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20040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교육부 스마트 학교 구축 사업 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지자체 탄소중립 포인트 제도와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직접 연계되는 인프라.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61872"/>
            <a:ext cx="2743200" cy="3310128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78040" y="1444752"/>
            <a:ext cx="841248" cy="841248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144475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565C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◎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Global Expansion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27614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(글로벌 K-FoodTech)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108960"/>
            <a:ext cx="2468880" cy="0"/>
          </a:xfrm>
          <a:prstGeom prst="line">
            <a:avLst/>
          </a:prstGeom>
          <a:noFill/>
          <a:ln w="10160">
            <a:solidFill>
              <a:srgbClr val="A5D6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20040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공공데이터 분석과 AI 엣지 하드웨어가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결합한 한국형 스마트 급식 모델의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글로벌 확장 포석.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14 / 15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수집된 데이터는 다시 공공의 자산으로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51560"/>
            <a:ext cx="9144000" cy="4091940"/>
          </a:xfrm>
          <a:prstGeom prst="rect">
            <a:avLst/>
          </a:prstGeom>
          <a:solidFill>
            <a:srgbClr val="1A3E2A"/>
          </a:solidFill>
          <a:ln w="12700">
            <a:solidFill>
              <a:srgbClr val="1A3E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371600"/>
            <a:ext cx="2743200" cy="274320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A5D6A7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0" y="1645920"/>
            <a:ext cx="2743200" cy="274320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A5D6A7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1920240"/>
            <a:ext cx="2743200" cy="2743200"/>
          </a:xfrm>
          <a:prstGeom prst="ellipse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A5D6A7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2651760" cy="3584448"/>
          </a:xfrm>
          <a:prstGeom prst="roundRect">
            <a:avLst>
              <a:gd name="adj" fmla="val 413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4447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1: 시범 학교 운영 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실데이터 클라우드 공유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2423160" cy="0"/>
          </a:xfrm>
          <a:prstGeom prst="line">
            <a:avLst/>
          </a:prstGeom>
          <a:noFill/>
          <a:ln w="10160">
            <a:solidFill>
              <a:srgbClr val="A5D6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77440"/>
            <a:ext cx="24688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시범 학교 운영을 통해 실제 급식 현장의 데이터(잔반량, 선호도, 환경 영향)를 수집하고, 클라우드 플랫폼에 안전하게 축적 및 공유합니다.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51760" cy="3584448"/>
          </a:xfrm>
          <a:prstGeom prst="roundRect">
            <a:avLst>
              <a:gd name="adj" fmla="val 413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37560" y="14447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2: 축적된 예측 데이터를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바탕으로 '에코 표준 식단 가이드라인' 수립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55848" y="2286000"/>
            <a:ext cx="2423160" cy="0"/>
          </a:xfrm>
          <a:prstGeom prst="line">
            <a:avLst/>
          </a:prstGeom>
          <a:noFill/>
          <a:ln w="10160">
            <a:solidFill>
              <a:srgbClr val="A5D6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377440"/>
            <a:ext cx="24688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1에서 수집된 데이터를 AI가 분석하여, 지역별, 학교별 특성을 반영한 친환경적이고 건강한 '에코 표준 식단 가이드라인'을 개발합니다.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51760" cy="3584448"/>
          </a:xfrm>
          <a:prstGeom prst="roundRect">
            <a:avLst>
              <a:gd name="adj" fmla="val 413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444752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3: 정제된 데이터를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신규 공공데이터로 정부 포털에 재개방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2286000"/>
            <a:ext cx="2423160" cy="0"/>
          </a:xfrm>
          <a:prstGeom prst="line">
            <a:avLst/>
          </a:prstGeom>
          <a:noFill/>
          <a:ln w="10160">
            <a:solidFill>
              <a:srgbClr val="A5D6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377440"/>
            <a:ext cx="24688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익명화 과정을 거친 학교별, 메뉴별 잔반 추이 데이터를 공공 포털에 개방합니다. 이를 통해 국내 푸드테크 생태계를 활성화합니다.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473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데이터로 맛있는 지구를 만듭니다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572000" cy="3639312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0160">
            <a:solidFill>
              <a:srgbClr val="C8E6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생성형 AI 활용 상세 내역서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4297680" cy="0"/>
          </a:xfrm>
          <a:prstGeom prst="line">
            <a:avLst/>
          </a:prstGeom>
          <a:noFill/>
          <a:ln w="19050">
            <a:solidFill>
              <a:srgbClr val="1B2E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37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[도구적 비서 활용]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2029968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Gemini (논리 구조 브레인스토밍)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(API 파싱 스크립트 초안)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Antigravity (하드웨어 스펙 벤치마크)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4297680" cy="0"/>
          </a:xfrm>
          <a:prstGeom prst="line">
            <a:avLst/>
          </a:prstGeom>
          <a:noFill/>
          <a:ln w="19050">
            <a:solidFill>
              <a:srgbClr val="1B2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944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1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[독창성 100% 보장]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32461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나이스 데이터 아키텍처 모델링 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Alex's Edge-AI Station 전용 PCB 설계는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제안자의 고유 기술 역량임을 선언.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66360" y="1051560"/>
            <a:ext cx="3657600" cy="3639312"/>
          </a:xfrm>
          <a:prstGeom prst="roundRect">
            <a:avLst>
              <a:gd name="adj" fmla="val 3769"/>
            </a:avLst>
          </a:prstGeom>
          <a:solidFill>
            <a:srgbClr val="F1F8F1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234440"/>
            <a:ext cx="1828800" cy="2011680"/>
          </a:xfrm>
          <a:prstGeom prst="ellipse">
            <a:avLst/>
          </a:prstGeom>
          <a:solidFill>
            <a:srgbClr val="FFF3E0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544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 학생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이미지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30368" y="333756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3456432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학교 식판이 깨끗해지는 그날까지,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AI-EcoTable이 함께합니다. 감사합니다.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AI-EcoTable  |  제8회 교육 공공데이터 AI 활용대회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AI-EcoTable: 데이터 기반 지능형 급식 최적화 및 탄소 저감 솔루션</dc:title>
  <dc:subject>PptxGenJS Presentation</dc:subject>
  <dc:creator>PptxGenJS</dc:creator>
  <cp:lastModifiedBy>PptxGenJS</cp:lastModifiedBy>
  <cp:revision>1</cp:revision>
  <dcterms:created xsi:type="dcterms:W3CDTF">2026-05-07T05:39:27Z</dcterms:created>
  <dcterms:modified xsi:type="dcterms:W3CDTF">2026-05-07T05:39:27Z</dcterms:modified>
</cp:coreProperties>
</file>