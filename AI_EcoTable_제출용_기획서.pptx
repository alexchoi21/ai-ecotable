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A4D8A">
              <a:alpha val="30000"/>
            </a:srgbClr>
          </a:solidFill>
          <a:ln w="12700">
            <a:solidFill>
              <a:srgbClr val="1A4D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2E8B57">
              <a:alpha val="20000"/>
            </a:srgbClr>
          </a:solidFill>
          <a:ln w="12700">
            <a:solidFill>
              <a:srgbClr val="2E8B5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48640"/>
            <a:ext cx="3840480" cy="292608"/>
          </a:xfrm>
          <a:prstGeom prst="rect">
            <a:avLst/>
          </a:prstGeom>
          <a:solidFill>
            <a:srgbClr val="D4AF37">
              <a:alpha val="9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48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제8회 교육 공공데이터 AI 활용대회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버려지는 식판에서 찾은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급식의 '지속 가능한 내일'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나이스(NEIS) 급식 API × AI 에이전트 × Edge HW가 만드는 탄소 중립 학교 급식실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4114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1417320" cy="256032"/>
          </a:xfrm>
          <a:prstGeom prst="rect">
            <a:avLst/>
          </a:prstGeom>
          <a:solidFill>
            <a:srgbClr val="003366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29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47672" y="3429000"/>
            <a:ext cx="1417320" cy="256032"/>
          </a:xfrm>
          <a:prstGeom prst="rect">
            <a:avLst/>
          </a:prstGeom>
          <a:solidFill>
            <a:srgbClr val="003366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7672" y="3429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83864" y="3429000"/>
            <a:ext cx="1417320" cy="256032"/>
          </a:xfrm>
          <a:prstGeom prst="rect">
            <a:avLst/>
          </a:prstGeom>
          <a:solidFill>
            <a:srgbClr val="003366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3429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NEIS API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3429000"/>
            <a:ext cx="1417320" cy="256032"/>
          </a:xfrm>
          <a:prstGeom prst="rect">
            <a:avLst/>
          </a:prstGeom>
          <a:solidFill>
            <a:srgbClr val="003366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3429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Computing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56248" y="3429000"/>
            <a:ext cx="1417320" cy="256032"/>
          </a:xfrm>
          <a:prstGeom prst="rect">
            <a:avLst/>
          </a:prstGeom>
          <a:solidFill>
            <a:srgbClr val="003366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3429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중립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| 제8회 교육 공공데이터 AI 활용대회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배경: 우리가 외면했던 '식판 뒤의 진실'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02 · Problem Statement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24128"/>
            <a:ext cx="8503920" cy="530352"/>
          </a:xfrm>
          <a:prstGeom prst="rect">
            <a:avLst/>
          </a:prstGeom>
          <a:solidFill>
            <a:srgbClr val="F4F7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64008" cy="5303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0424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산더미처럼 쌓이는 잔반, 단순히 학생들의 편식 때문일까요?"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691640"/>
            <a:ext cx="2724912" cy="21031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691640"/>
            <a:ext cx="64008" cy="21031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2,000억 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학교 음식물 쓰레기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비용 (추산)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691640"/>
            <a:ext cx="2724912" cy="21031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691640"/>
            <a:ext cx="64008" cy="210312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3756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부재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26334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경험에만 의존하는 조리량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→ 과다 조리 반복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691640"/>
            <a:ext cx="2724912" cy="21031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691640"/>
            <a:ext cx="64008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배출 가속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26334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음식물이 매립·소각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온실가스 증가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904488"/>
            <a:ext cx="8503920" cy="6858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31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예측 데이터의 부재 → 과다 조리 → 잔반 발생 → 탄소 배출 &amp; 예산 낭비의 악순환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'AI-EcoTable'인가?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03 · Market Opportunity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51560"/>
            <a:ext cx="2724912" cy="5486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515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0040" y="1600200"/>
            <a:ext cx="2724912" cy="24231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6916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시대적 요구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" y="2057400"/>
            <a:ext cx="2487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2050 탄소중립 실천 학교 확대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 '디지털 전환' 정책 가속화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단위 ESG 실천 의무화 흐름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724912" cy="54864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515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200400" y="1600200"/>
            <a:ext cx="2724912" cy="24231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6916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기회의 데이터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2057400"/>
            <a:ext cx="2487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NEIS 포털에 매일 식단 데이터 축적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'예측'과 '저감'을 연결하는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고리가 아직 존재하지 않음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1051560"/>
            <a:ext cx="2724912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0515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080760" y="1600200"/>
            <a:ext cx="2724912" cy="24231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6916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솔루션의 핵심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0488" y="2057400"/>
            <a:ext cx="2487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공공데이터(식단) + AI(선호 예측)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HW(실시간 측정)의 3각 융합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교육 현장 즉시 적용 가능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133088"/>
            <a:ext cx="8503920" cy="457200"/>
          </a:xfrm>
          <a:prstGeom prst="rect">
            <a:avLst/>
          </a:prstGeom>
          <a:solidFill>
            <a:srgbClr val="2E8B57">
              <a:alpha val="8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6052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AI-EcoTable은 이 세 가지 조건이 완벽하게 맞아떨어지는 유일한 교차점입니다.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공공데이터 ① : 나이스(NEIS) 급식 정보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04 · Data 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51560"/>
            <a:ext cx="4114800" cy="9601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051560"/>
            <a:ext cx="64008" cy="96012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216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수집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435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학교별 식단명, 식재료, 영양 정보,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알레르기 유발 정보를 API로 자동 수집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67128"/>
            <a:ext cx="4114800" cy="9601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67128"/>
            <a:ext cx="64008" cy="96012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31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2258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마이닝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511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식단명 → '메인 단백질', '채소 비중',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'조리 방식(튀김/찜/무침)'으로 카테고리화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82696"/>
            <a:ext cx="4114800" cy="9601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82696"/>
            <a:ext cx="64008" cy="96012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472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0120" y="33741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예측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666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나물이 많은 비빔밥 vs. 일반 비빔밥의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잔반율 변화를 추적·학습·예측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024128"/>
            <a:ext cx="4160520" cy="3493008"/>
          </a:xfrm>
          <a:prstGeom prst="rect">
            <a:avLst/>
          </a:prstGeom>
          <a:solidFill>
            <a:srgbClr val="001F3F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69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NEIS API 응답 구조 (예시)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3716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/mealServiceDietInfo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754880" y="15727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754880" y="17739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"SCHUL_NM": "서울중앙고등학교",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754880" y="19751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"MLSV_YMD": "20260507",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754880" y="2176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"DDISH_NM": "잡곡밥 | 육개장(소) |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754880" y="2377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시금치나물 | 오징어볶음 |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754880" y="25786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배추김치",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754880" y="27797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"NTR_INFO": "칼로리(kcal):880.8 |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754880" y="29809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탄수화물(g):131.6 |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754880" y="31821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단백질(g):40.6",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754880" y="33832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"ORPLC_INFO": "닭고기:국내산 |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754880" y="3584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쌀:국내산"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754880" y="37856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20040" y="4572000"/>
            <a:ext cx="8503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공공데이터 ② : 국가 LCI DB 및 환경성적표지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05 · Carbon Footprint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" y="987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한국환경산업기술원의 공신력 있는 탄소 배출 계수 데이터베이스를 식재료별로 매핑합니다.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식재료별 탄소 배출 계수 비교 (kg CO₂-eq / kg)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소고기 1kg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1773936"/>
            <a:ext cx="5029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792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kg CO₂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돼지고기 1kg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267712"/>
            <a:ext cx="2253827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0139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12.1 kg CO₂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닭고기 1kg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2761488"/>
            <a:ext cx="1285240" cy="2926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1552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 kg CO₂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두부 1kg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3255264"/>
            <a:ext cx="372533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8845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kg CO₂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채소류 1kg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3749040"/>
            <a:ext cx="1676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3952" y="3767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 kg CO₂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1325880"/>
            <a:ext cx="2331720" cy="3246120"/>
          </a:xfrm>
          <a:prstGeom prst="rect">
            <a:avLst/>
          </a:prstGeom>
          <a:solidFill>
            <a:srgbClr val="2E8B57">
              <a:alpha val="9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14173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학생에게 전달하는 메시지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65392" y="1783080"/>
            <a:ext cx="21762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잔반 100g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소나무 0.5그루🌲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소고기 한 끼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30km 주행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만큼의 탄소 배출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채식 식단으로 바꾸면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일 탄소 배출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64.5% ↓ 저감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컨셉: Edu-Antigravity 3단계 엔진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06 · System Architecture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24128"/>
            <a:ext cx="2724912" cy="347472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2412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PRE-LUNCH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🔮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11480" y="2084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예측 단계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450592"/>
            <a:ext cx="27249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51460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NEIS API로 오늘 식단 파싱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과거 잔반 데이터 학습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필요 조리량 가이드라인 제시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44952" y="173736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0" y="1024128"/>
            <a:ext cx="2724912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02412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DURING-LUNCH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291840" y="2084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측정 단계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450592"/>
            <a:ext cx="27249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51460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Edge-AI Station이 식판을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스캔 (0.5초 이내)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잔반량·종류 정밀 분석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5312" y="173736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80760" y="1024128"/>
            <a:ext cx="2724912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02412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POST-LUNCH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72200" y="2084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학습·피드백 단계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2450592"/>
            <a:ext cx="27249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251460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잔반 데이터 저장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모델 자동 재학습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식단 예측 정확도 향상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206240"/>
            <a:ext cx="8503920" cy="384048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33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이 세 단계가 하나의 자율 학습 루프를 형성, 사용할수록 예측 정확도가 향상됩니다.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하드웨어: Alex's Edge-AI Station (PCB Design)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07 · Hardware Architecture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05840"/>
            <a:ext cx="4572000" cy="10058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005840"/>
            <a:ext cx="64008" cy="100584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🔲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97280" y="1097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PCB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399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NXP i.MX 8M Plus NPU 기반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AI 가속기 내장 회로 설계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(Altium / KiCad 정밀 설계)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4572000" cy="10058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48840"/>
            <a:ext cx="64008" cy="100584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97280" y="2240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Inference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542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전송 없이 로컬에서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0.5초 이내 잔반 분석 완료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학생 개인정보 완벽 보호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4572000" cy="10058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91840"/>
            <a:ext cx="64008" cy="100584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74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97280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Industrial Build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685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알루미늄 다이캐스팅 케이스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IP67 등급 방수 설계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세척·위생 관리 용이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1005840"/>
            <a:ext cx="3703320" cy="3401568"/>
          </a:xfrm>
          <a:prstGeom prst="rect">
            <a:avLst/>
          </a:prstGeom>
          <a:solidFill>
            <a:srgbClr val="001F3F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0789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블록 다이어그램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1417320"/>
            <a:ext cx="1554480" cy="640080"/>
          </a:xfrm>
          <a:prstGeom prst="rect">
            <a:avLst/>
          </a:prstGeom>
          <a:solidFill>
            <a:srgbClr val="1A4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14538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Camera Module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(MIPI CSI-2)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49440" y="1417320"/>
            <a:ext cx="1737360" cy="640080"/>
          </a:xfrm>
          <a:prstGeom prst="rect">
            <a:avLst/>
          </a:prstGeom>
          <a:solidFill>
            <a:srgbClr val="2E8B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453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NPU 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(NXP i.MX 8M+)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212080" y="2240280"/>
            <a:ext cx="1554480" cy="594360"/>
          </a:xfrm>
          <a:prstGeom prst="rect">
            <a:avLst/>
          </a:prstGeom>
          <a:solidFill>
            <a:srgbClr val="0D948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276856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YOLOv11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Model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949440" y="2240280"/>
            <a:ext cx="1737360" cy="594360"/>
          </a:xfrm>
          <a:prstGeom prst="rect">
            <a:avLst/>
          </a:prstGeom>
          <a:solidFill>
            <a:srgbClr val="1A4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227685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 6 / 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212080" y="3017520"/>
            <a:ext cx="3474720" cy="594360"/>
          </a:xfrm>
          <a:prstGeom prst="rect">
            <a:avLst/>
          </a:prstGeom>
          <a:solidFill>
            <a:srgbClr val="1A4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054096"/>
            <a:ext cx="3383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 Management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IP67 Enclosure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212080" y="3703320"/>
            <a:ext cx="1554480" cy="502920"/>
          </a:xfrm>
          <a:prstGeom prst="rect">
            <a:avLst/>
          </a:prstGeom>
          <a:solidFill>
            <a:srgbClr val="4A90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73989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NEIS Cloud API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49440" y="3703320"/>
            <a:ext cx="1737360" cy="502920"/>
          </a:xfrm>
          <a:prstGeom prst="rect">
            <a:avLst/>
          </a:prstGeom>
          <a:solidFill>
            <a:srgbClr val="2E8B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3739896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School Dashboard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4480560"/>
            <a:ext cx="85039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알고리즘: YOLOv11 기반 정밀 잔반 인식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08 · AI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05840"/>
            <a:ext cx="640080" cy="347472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058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51560" y="10241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식판 구획 분리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34416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밥/국/반찬(3구)을 개별 ROI로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세분화 → 구획별 독립 분석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103120"/>
            <a:ext cx="4297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48840"/>
            <a:ext cx="640080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488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" y="21671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YOLOv11 객체 인식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48716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Fine-tuning 모델로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잔반 음식 종류 및 양 정밀 측정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(오픈소스 기반 → 실현 가능성 검증 완료)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4297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91840"/>
            <a:ext cx="64008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918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1560" y="33101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환산 &amp; 피드백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63016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인식된 잔반 → LCI DB 연동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CO₂ 환산값 실시간 산출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학생/관리자 화면에 전달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1005840"/>
            <a:ext cx="182880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1005840"/>
            <a:ext cx="1828800" cy="109728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170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속도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5192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0.5초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65192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로컬 처리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0" y="1005840"/>
            <a:ext cx="182880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1005840"/>
            <a:ext cx="1828800" cy="1097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1170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식판 인식 구획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31152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3구 분리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31152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 / 국 / 반찬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2651760"/>
            <a:ext cx="182880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651760"/>
            <a:ext cx="1828800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베이스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65192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YOLOv11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965192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오픈소스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0" y="2651760"/>
            <a:ext cx="182880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2651760"/>
            <a:ext cx="18288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외부 전송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31152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31152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엣지 처리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92040" y="4315968"/>
            <a:ext cx="3931920" cy="347472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43342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차별화: 단순 인식이 아닌 반찬별 잔반량 → 탄소 환산까지 end-to-end 파이프라인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서비스: '나의 탄소 중립 다이어리'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09 · Student Experience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" y="9875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점심시간이 환경 보호를 직접 실천하고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수치로 확인하는 '살아있는 환경 교육'의 장이 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27632"/>
            <a:ext cx="4800600" cy="822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27632"/>
            <a:ext cx="64008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1700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게이미피케이션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993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잔반 제로 실천 시 '에코 포인트' 적립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캐릭터 성장 시스템으로 지속적 동기 부여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87752"/>
            <a:ext cx="4800600" cy="822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87752"/>
            <a:ext cx="64008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660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/ 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953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직관적이고 친근한 UI/UX 설계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언제 어디서나 내 탄소 발자국 확인 가능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4800600" cy="822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47872"/>
            <a:ext cx="64008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621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 랭킹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9136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반별 에코 지수 비교 기능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건전한 환경 경쟁 문화 조성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960120"/>
            <a:ext cx="3474720" cy="3657600"/>
          </a:xfrm>
          <a:prstGeom prst="rect">
            <a:avLst/>
          </a:prstGeom>
          <a:solidFill>
            <a:srgbClr val="001F3F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960120"/>
            <a:ext cx="3474720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987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🌿 탄소 중립 다이어리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1444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나의 에코 포인트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94960" y="17190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+45 pts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5486400" y="2286000"/>
            <a:ext cx="3200400" cy="0"/>
          </a:xfrm>
          <a:prstGeom prst="line">
            <a:avLst/>
          </a:prstGeom>
          <a:noFill/>
          <a:ln w="10160">
            <a:solidFill>
              <a:srgbClr val="1A4D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탄소 절감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86600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kg CO₂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068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잔반율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086600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40680" y="3255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 환산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86600" y="32552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 그루 🌲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40680" y="3694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 랭킹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086600" y="36941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 🏆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관리자용: 영양사 선생님의 '스마트 대시보드'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10 · Admin Service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987552"/>
            <a:ext cx="8503920" cy="411480"/>
          </a:xfrm>
          <a:prstGeom prst="rect">
            <a:avLst/>
          </a:prstGeom>
          <a:solidFill>
            <a:srgbClr val="F4F7F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05840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"아이들이 좋아하는 식단과 환경에 좋은 식단의 교집합을 찾아드립니다."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508760"/>
            <a:ext cx="2724912" cy="23774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508760"/>
            <a:ext cx="64008" cy="237744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217627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자동화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잔반 발생량 데이터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자동 Excel 리포트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행정 업무 70% 감소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2450592" cy="274320"/>
          </a:xfrm>
          <a:prstGeom prst="rect">
            <a:avLst/>
          </a:prstGeom>
          <a:solidFill>
            <a:srgbClr val="1A4D8A">
              <a:alpha val="80000"/>
            </a:srgbClr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02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절감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508760"/>
            <a:ext cx="2724912" cy="23774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508760"/>
            <a:ext cx="64008" cy="2377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🍽️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337560" y="217627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최적화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254203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잔반 패턴 분석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'인기 + 친환경' 식단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교집합 자동 추천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493008"/>
            <a:ext cx="2450592" cy="274320"/>
          </a:xfrm>
          <a:prstGeom prst="rect">
            <a:avLst/>
          </a:prstGeom>
          <a:solidFill>
            <a:srgbClr val="2E8B57">
              <a:alpha val="8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502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메뉴 추천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508760"/>
            <a:ext cx="2724912" cy="23774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508760"/>
            <a:ext cx="64008" cy="2377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217920" y="217627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모니터링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254203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 발주 방지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절감액 실시간 표시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연간 약 1,200만 원 절약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3493008"/>
            <a:ext cx="2450592" cy="274320"/>
          </a:xfrm>
          <a:prstGeom prst="rect">
            <a:avLst/>
          </a:prstGeom>
          <a:solidFill>
            <a:srgbClr val="D4AF37">
              <a:alpha val="8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502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1,200만 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41648"/>
            <a:ext cx="8503920" cy="566928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0965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영양사 선생님이 데이터에 기반한 의사결정을 할 수 있도록 — 전 과정을 자동화합니다.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&amp; 프라이버시: DePIN 기반 엣지 인프라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11 · Privacy &amp; Security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987552"/>
            <a:ext cx="8503920" cy="457200"/>
          </a:xfrm>
          <a:prstGeom prst="rect">
            <a:avLst/>
          </a:prstGeom>
          <a:solidFill>
            <a:srgbClr val="2E8B57">
              <a:alpha val="8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058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"학생의 데이터는 학교 밖으로 나가지 않습니다."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572768"/>
            <a:ext cx="4160520" cy="129844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572768"/>
            <a:ext cx="64008" cy="1298448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16642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비식별화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1993392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Station에서 실시간 블러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식판만 분석, 학생 얼굴 미수집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PIPA 완전 준수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160520" cy="129844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572768"/>
            <a:ext cx="64008" cy="12984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16642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즉시 파기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1993392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완료 즉시 영상 데이터 삭제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외부 클라우드 전송 Zero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잔반 수치 데이터만 서버 전송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035808"/>
            <a:ext cx="4160520" cy="129844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35808"/>
            <a:ext cx="64008" cy="12984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" y="3127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DePIN 인프라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456432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탈중앙화 연산 자원 (Aethir) 활용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초기 서버 구축 비용 최소화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안정적·분산 운영 보장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035808"/>
            <a:ext cx="4160520" cy="129844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035808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9240" y="3127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데이터 주권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3456432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수집된 익명화 데이터 소유권 = 학교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필요 시 공공데이터 포털 기여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교육 생태계 선순환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45537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PIPA(개인정보보호법) 완전 준수  ·  국가 사이버보안 가이드라인 준수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기대 효과 — PoC 시뮬레이션 결과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12 · Quantitative 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05840"/>
            <a:ext cx="2029968" cy="2606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05840"/>
            <a:ext cx="2029968" cy="137160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3444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" y="20848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kg CO₂-eq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423160"/>
            <a:ext cx="14813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87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주간 평균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배출량 (샘플)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78024" y="1005840"/>
            <a:ext cx="2029968" cy="2606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8024" y="1005840"/>
            <a:ext cx="2029968" cy="1371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23444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64.5%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2478024" y="20848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52344" y="2423160"/>
            <a:ext cx="14813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2487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 데이(채식) 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일 탄소 배출 절감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36008" y="1005840"/>
            <a:ext cx="2029968" cy="2606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1005840"/>
            <a:ext cx="2029968" cy="1371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123444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25%+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4636008" y="20848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0328" y="2423160"/>
            <a:ext cx="14813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2487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음식물 쓰레기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발생량 절감 목표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93992" y="1005840"/>
            <a:ext cx="2029968" cy="2606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93992" y="1005840"/>
            <a:ext cx="2029968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123444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1,200만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793992" y="20848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이상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68312" y="2423160"/>
            <a:ext cx="14813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24871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학교당 연간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절감 가능 예산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37216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서울중앙고등학교 샘플 기준 시뮬레이션 | NEIS 식단 데이터 + 국가 LCI DB 탄소 계수 적용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3977640"/>
            <a:ext cx="8503920" cy="7315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416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🌿  에코 데이 시뮬레이션: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1회 육류 → 채식 식단 전환 시, 해당 일 탄소 배출량이 </a:t>
            </a:r>
            <a:pPr indent="0" marL="0">
              <a:buNone/>
            </a:pPr>
            <a:r>
              <a:rPr lang="en-US" sz="110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64.5% 감소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(NEIS × LCI DB 교차 검증)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정성적 기대 효과 &amp; 사회적 가치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13 · Social 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05840"/>
            <a:ext cx="416052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05840"/>
            <a:ext cx="4160520" cy="109728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61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교육적 가치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1399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미래 세대 환경 감수성 교육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1737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내 식습관이 환경에 미치는 영향을 직접 확인하는 살아있는 교육. '디지털 환경 시민' 양성.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16052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05840"/>
            <a:ext cx="4160520" cy="1097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61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정책적 가치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399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🏛️ 정부 정책과의 완벽한 정합성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 스마트 학교 구축 사업 + 지자체 탄소중립 포인트 제도 연계. 교육부 '디지털 전환' 가속화 기여.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416052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51760"/>
            <a:ext cx="4160520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07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가치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" y="3044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🌏 K-급식 모델의 세계화 가능성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383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+ AI 융합의 한국형 스마트 급식 모델. 아시아 급식 문화권으로 수출 가능한 플랫폼.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416052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651760"/>
            <a:ext cx="4160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07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가치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044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공공데이터 선순환 기여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383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익명화된 잔반 데이터를 다시 공공데이터로 개방. 푸드테크 스타트업 생태계 활성화 기여.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343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AI-EcoTable은 기술을 넘어, 교육·환경·정책·산업이 함께 성장하는 선순환 생태계를 만듭니다.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"/>
            <a:ext cx="54864" cy="40233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발전 및 전국 확장 계획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14 · Roadmap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987552"/>
            <a:ext cx="2724912" cy="384048"/>
          </a:xfrm>
          <a:prstGeom prst="rect">
            <a:avLst/>
          </a:prstGeom>
          <a:solidFill>
            <a:srgbClr val="1A4D8A"/>
          </a:solidFill>
          <a:ln w="12700">
            <a:solidFill>
              <a:srgbClr val="1A4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8755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 ·  2026 하반기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학교 운영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2724912" cy="2606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938528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1~3개교 파일럿 설치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잔반 데이터 수집 시작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YOLOv11 모델 정확도 고도화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1A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학생·영양사 피드백 수렴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4952" y="178308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987552"/>
            <a:ext cx="2724912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98755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·  2027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단위 확산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724912" cy="2606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938528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단위 공동 구매·배포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 데이터 공공 개방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식단 가이드라인 수립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중립 포인트 제도 연계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25312" y="178308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0760" y="987552"/>
            <a:ext cx="2724912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98755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 ·  2028~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&amp; 글로벌 확장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1828800"/>
            <a:ext cx="2724912" cy="26060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1938528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학교 탄소 중립 급식 네트워크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K-급식 AI 모델 아시아 수출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푸드테크 스타트업 API 개방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 스마트 학교 표준 모듈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544568"/>
            <a:ext cx="850392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56285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비전: 수집된 익명화 데이터를 다시 공공데이터로 개방 → 푸드테크 생태계 선순환에 기여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A4D8A">
              <a:alpha val="25000"/>
            </a:srgbClr>
          </a:solidFill>
          <a:ln w="12700">
            <a:solidFill>
              <a:srgbClr val="1A4D8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502920"/>
            <a:ext cx="2286000" cy="2926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1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맛있는 지구를 만듭니다.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C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AI-EcoTable은 기술을 넘어,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C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아이들이 더 나은 환경에서 건강하게 성장할 수 있는 기반입니다.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542032"/>
            <a:ext cx="45720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35935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저감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(에코 데이)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7752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87752" y="3090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1,200만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87752" y="35935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절감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(학교당, 원)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64024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64024" y="3090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B8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NEIS API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64024" y="35935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활용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087368"/>
            <a:ext cx="4572000" cy="0"/>
          </a:xfrm>
          <a:prstGeom prst="line">
            <a:avLst/>
          </a:prstGeom>
          <a:noFill/>
          <a:ln w="10160">
            <a:solidFill>
              <a:srgbClr val="1A4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879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학교 식판이 깨끗해지는 그날까지, 교육 공공데이터가 함께합니다.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37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AI-EcoTable | 제8회 교육 공공데이터 AI 활용대회 |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AI-EcoTable: 데이터 기반 지능형 급식 최적화 및 탄소 저감 솔루션</dc:title>
  <dc:subject>PptxGenJS Presentation</dc:subject>
  <dc:creator>제8회 교육 공공데이터 AI 활용대회</dc:creator>
  <cp:lastModifiedBy>제8회 교육 공공데이터 AI 활용대회</cp:lastModifiedBy>
  <cp:revision>1</cp:revision>
  <dcterms:created xsi:type="dcterms:W3CDTF">2026-05-07T05:22:21Z</dcterms:created>
  <dcterms:modified xsi:type="dcterms:W3CDTF">2026-05-07T05:22:21Z</dcterms:modified>
</cp:coreProperties>
</file>